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28/08/2023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280868" y="4648378"/>
            <a:ext cx="48208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different analyses: </a:t>
            </a:r>
            <a:r>
              <a:rPr lang="nl-BE" sz="1400" dirty="0" err="1"/>
              <a:t>coloc</a:t>
            </a:r>
            <a:r>
              <a:rPr lang="nl-BE" sz="1400" dirty="0"/>
              <a:t>, overlap, </a:t>
            </a:r>
            <a:r>
              <a:rPr lang="nl-BE" sz="1400" dirty="0" err="1"/>
              <a:t>mfi</a:t>
            </a:r>
            <a:r>
              <a:rPr lang="nl-BE" sz="1400" dirty="0"/>
              <a:t>,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density</a:t>
            </a:r>
            <a:r>
              <a:rPr lang="nl-BE" sz="1400" dirty="0"/>
              <a:t>…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406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6A656332-7B48-3298-481C-C9F95B2BB2BC}"/>
              </a:ext>
            </a:extLst>
          </p:cNvPr>
          <p:cNvSpPr txBox="1"/>
          <p:nvPr/>
        </p:nvSpPr>
        <p:spPr>
          <a:xfrm>
            <a:off x="353267" y="161104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Original pipeline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31531"/>
            <a:ext cx="8067740" cy="3434019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391682" y="1607361"/>
            <a:ext cx="7873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946806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6599454" y="1904077"/>
            <a:ext cx="915779" cy="892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293806" y="362631"/>
            <a:ext cx="666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 – </a:t>
            </a:r>
            <a:r>
              <a:rPr lang="nl-BE" sz="2000" dirty="0" err="1">
                <a:solidFill>
                  <a:schemeClr val="bg1"/>
                </a:solidFill>
              </a:rPr>
              <a:t>surrogate</a:t>
            </a:r>
            <a:r>
              <a:rPr lang="nl-BE" sz="2000" dirty="0">
                <a:solidFill>
                  <a:schemeClr val="bg1"/>
                </a:solidFill>
              </a:rPr>
              <a:t>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6991229" y="2118015"/>
            <a:ext cx="0" cy="164753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349644" y="1601898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299" y="2036524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445585" y="1601897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372713" y="1209483"/>
            <a:ext cx="10005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thresholds.csv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6424385" y="1161173"/>
            <a:ext cx="13676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mean-thresholds.csv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7515233" y="1592309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888" y="2026935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7789115" y="1592308"/>
            <a:ext cx="74090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overlap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227" y="1555482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8765043" y="2190268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45388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7343783" y="2379708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7343783" y="2379708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5734" y="1471093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43536" y="1237732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overlap.csv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844347" y="2263149"/>
            <a:ext cx="8531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dotplot.png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52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150A32B2-BE43-92C3-0D90-C0C7BE9F92F4}"/>
              </a:ext>
            </a:extLst>
          </p:cNvPr>
          <p:cNvSpPr txBox="1"/>
          <p:nvPr/>
        </p:nvSpPr>
        <p:spPr>
          <a:xfrm>
            <a:off x="337335" y="46615"/>
            <a:ext cx="1915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Simplified </a:t>
            </a:r>
          </a:p>
          <a:p>
            <a:pPr algn="ctr"/>
            <a:r>
              <a:rPr lang="en-US" b="1" dirty="0"/>
              <a:t>surrogate pipeline</a:t>
            </a:r>
            <a:endParaRPr lang="nl-NL" b="1" dirty="0"/>
          </a:p>
        </p:txBody>
      </p:sp>
      <p:sp>
        <p:nvSpPr>
          <p:cNvPr id="23" name="Rectangle: Rounded Corners 40">
            <a:extLst>
              <a:ext uri="{FF2B5EF4-FFF2-40B4-BE49-F238E27FC236}">
                <a16:creationId xmlns:a16="http://schemas.microsoft.com/office/drawing/2014/main" id="{9E0400E2-B1B3-A488-AEFF-CE5AC5530EE0}"/>
              </a:ext>
            </a:extLst>
          </p:cNvPr>
          <p:cNvSpPr/>
          <p:nvPr/>
        </p:nvSpPr>
        <p:spPr>
          <a:xfrm>
            <a:off x="9063764" y="1582338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6" name="Picture 41">
            <a:extLst>
              <a:ext uri="{FF2B5EF4-FFF2-40B4-BE49-F238E27FC236}">
                <a16:creationId xmlns:a16="http://schemas.microsoft.com/office/drawing/2014/main" id="{930AA0C1-55D1-DE21-7C82-7383DC262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419" y="2016964"/>
            <a:ext cx="489335" cy="500513"/>
          </a:xfrm>
          <a:prstGeom prst="rect">
            <a:avLst/>
          </a:prstGeom>
        </p:spPr>
      </p:pic>
      <p:sp>
        <p:nvSpPr>
          <p:cNvPr id="27" name="TextBox 42">
            <a:extLst>
              <a:ext uri="{FF2B5EF4-FFF2-40B4-BE49-F238E27FC236}">
                <a16:creationId xmlns:a16="http://schemas.microsoft.com/office/drawing/2014/main" id="{A85C415F-A30D-67DC-E491-69F644724B03}"/>
              </a:ext>
            </a:extLst>
          </p:cNvPr>
          <p:cNvSpPr txBox="1"/>
          <p:nvPr/>
        </p:nvSpPr>
        <p:spPr>
          <a:xfrm>
            <a:off x="9437833" y="1582337"/>
            <a:ext cx="5405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Make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Figure</a:t>
            </a:r>
            <a:endParaRPr lang="nl-BE" sz="1100" dirty="0">
              <a:solidFill>
                <a:schemeClr val="bg1"/>
              </a:solidFill>
            </a:endParaRPr>
          </a:p>
        </p:txBody>
      </p:sp>
      <p:cxnSp>
        <p:nvCxnSpPr>
          <p:cNvPr id="32" name="Straight Arrow Connector 46">
            <a:extLst>
              <a:ext uri="{FF2B5EF4-FFF2-40B4-BE49-F238E27FC236}">
                <a16:creationId xmlns:a16="http://schemas.microsoft.com/office/drawing/2014/main" id="{58355587-E15F-1019-41D0-DD485BC73B7A}"/>
              </a:ext>
            </a:extLst>
          </p:cNvPr>
          <p:cNvCxnSpPr>
            <a:cxnSpLocks/>
          </p:cNvCxnSpPr>
          <p:nvPr/>
        </p:nvCxnSpPr>
        <p:spPr>
          <a:xfrm>
            <a:off x="10313574" y="1968500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86">
            <a:extLst>
              <a:ext uri="{FF2B5EF4-FFF2-40B4-BE49-F238E27FC236}">
                <a16:creationId xmlns:a16="http://schemas.microsoft.com/office/drawing/2014/main" id="{7E8EA08F-F511-3108-E391-205DECB0F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6502" y="2506573"/>
            <a:ext cx="508808" cy="562533"/>
          </a:xfrm>
          <a:prstGeom prst="rect">
            <a:avLst/>
          </a:prstGeom>
        </p:spPr>
      </p:pic>
      <p:sp>
        <p:nvSpPr>
          <p:cNvPr id="36" name="TextBox 4">
            <a:extLst>
              <a:ext uri="{FF2B5EF4-FFF2-40B4-BE49-F238E27FC236}">
                <a16:creationId xmlns:a16="http://schemas.microsoft.com/office/drawing/2014/main" id="{3E4E1008-E432-9F68-5328-F601E8697D78}"/>
              </a:ext>
            </a:extLst>
          </p:cNvPr>
          <p:cNvSpPr txBox="1"/>
          <p:nvPr/>
        </p:nvSpPr>
        <p:spPr>
          <a:xfrm>
            <a:off x="881222" y="1422783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40" name="TextBox 4">
            <a:extLst>
              <a:ext uri="{FF2B5EF4-FFF2-40B4-BE49-F238E27FC236}">
                <a16:creationId xmlns:a16="http://schemas.microsoft.com/office/drawing/2014/main" id="{40E7755C-6E36-47B2-1628-58F8FA7C70DC}"/>
              </a:ext>
            </a:extLst>
          </p:cNvPr>
          <p:cNvSpPr txBox="1"/>
          <p:nvPr/>
        </p:nvSpPr>
        <p:spPr>
          <a:xfrm>
            <a:off x="241633" y="5030915"/>
            <a:ext cx="1146583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600" b="1" dirty="0" err="1"/>
              <a:t>Simplified</a:t>
            </a:r>
            <a:r>
              <a:rPr lang="nl-BE" sz="1600" b="1" dirty="0"/>
              <a:t> </a:t>
            </a:r>
            <a:r>
              <a:rPr lang="nl-BE" sz="1600" b="1" dirty="0" err="1"/>
              <a:t>operation</a:t>
            </a:r>
            <a:r>
              <a:rPr lang="nl-BE" sz="1600" b="1" dirty="0"/>
              <a:t> on images:</a:t>
            </a:r>
          </a:p>
          <a:p>
            <a:endParaRPr lang="nl-BE" sz="1600" dirty="0"/>
          </a:p>
          <a:p>
            <a:r>
              <a:rPr lang="nl-BE" sz="1600" dirty="0"/>
              <a:t>Preprocessing </a:t>
            </a:r>
            <a:r>
              <a:rPr lang="nl-BE" sz="1600" dirty="0">
                <a:sym typeface="Wingdings" panose="05000000000000000000" pitchFamily="2" charset="2"/>
              </a:rPr>
              <a:t> </a:t>
            </a:r>
            <a:r>
              <a:rPr lang="nl-BE" sz="1600" dirty="0" err="1">
                <a:sym typeface="Wingdings" panose="05000000000000000000" pitchFamily="2" charset="2"/>
              </a:rPr>
              <a:t>autothreshold</a:t>
            </a:r>
            <a:r>
              <a:rPr lang="nl-BE" sz="1600" dirty="0">
                <a:sym typeface="Wingdings" panose="05000000000000000000" pitchFamily="2" charset="2"/>
              </a:rPr>
              <a:t> (</a:t>
            </a:r>
            <a:r>
              <a:rPr lang="nl-BE" sz="1600" dirty="0" err="1">
                <a:sym typeface="Wingdings" panose="05000000000000000000" pitchFamily="2" charset="2"/>
              </a:rPr>
              <a:t>traingle</a:t>
            </a:r>
            <a:r>
              <a:rPr lang="nl-BE" sz="1600" dirty="0">
                <a:sym typeface="Wingdings" panose="05000000000000000000" pitchFamily="2" charset="2"/>
              </a:rPr>
              <a:t>)  </a:t>
            </a:r>
            <a:r>
              <a:rPr lang="nl-BE" sz="1600" dirty="0" err="1">
                <a:sym typeface="Wingdings" panose="05000000000000000000" pitchFamily="2" charset="2"/>
              </a:rPr>
              <a:t>calculate</a:t>
            </a:r>
            <a:r>
              <a:rPr lang="nl-BE" sz="1600" dirty="0">
                <a:sym typeface="Wingdings" panose="05000000000000000000" pitchFamily="2" charset="2"/>
              </a:rPr>
              <a:t> overlap (</a:t>
            </a:r>
            <a:r>
              <a:rPr lang="nl-BE" sz="1600" dirty="0" err="1">
                <a:sym typeface="Wingdings" panose="05000000000000000000" pitchFamily="2" charset="2"/>
              </a:rPr>
              <a:t>with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internal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rotated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cntrl</a:t>
            </a:r>
            <a:r>
              <a:rPr lang="nl-BE" sz="1600" dirty="0">
                <a:sym typeface="Wingdings" panose="05000000000000000000" pitchFamily="2" charset="2"/>
              </a:rPr>
              <a:t>)  </a:t>
            </a:r>
            <a:r>
              <a:rPr lang="nl-BE" sz="1600" dirty="0" err="1">
                <a:sym typeface="Wingdings" panose="05000000000000000000" pitchFamily="2" charset="2"/>
              </a:rPr>
              <a:t>calculate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mean</a:t>
            </a:r>
            <a:r>
              <a:rPr lang="nl-BE" sz="1600" dirty="0">
                <a:sym typeface="Wingdings" panose="05000000000000000000" pitchFamily="2" charset="2"/>
              </a:rPr>
              <a:t> overlap  </a:t>
            </a:r>
            <a:r>
              <a:rPr lang="nl-BE" sz="1600" dirty="0" err="1">
                <a:sym typeface="Wingdings" panose="05000000000000000000" pitchFamily="2" charset="2"/>
              </a:rPr>
              <a:t>apply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to</a:t>
            </a:r>
            <a:r>
              <a:rPr lang="nl-BE" sz="1600" dirty="0">
                <a:sym typeface="Wingdings" panose="05000000000000000000" pitchFamily="2" charset="2"/>
              </a:rPr>
              <a:t> images</a:t>
            </a:r>
          </a:p>
          <a:p>
            <a:r>
              <a:rPr lang="nl-BE" sz="1600" dirty="0">
                <a:sym typeface="Wingdings" panose="05000000000000000000" pitchFamily="2" charset="2"/>
              </a:rPr>
              <a:t> </a:t>
            </a:r>
            <a:endParaRPr lang="nl-BE" sz="1600" dirty="0"/>
          </a:p>
        </p:txBody>
      </p:sp>
      <p:sp>
        <p:nvSpPr>
          <p:cNvPr id="46" name="TextBox 38">
            <a:extLst>
              <a:ext uri="{FF2B5EF4-FFF2-40B4-BE49-F238E27FC236}">
                <a16:creationId xmlns:a16="http://schemas.microsoft.com/office/drawing/2014/main" id="{AF33DA72-FAC9-DFD8-DF88-95C3AE1E42E8}"/>
              </a:ext>
            </a:extLst>
          </p:cNvPr>
          <p:cNvSpPr txBox="1"/>
          <p:nvPr/>
        </p:nvSpPr>
        <p:spPr>
          <a:xfrm>
            <a:off x="8504226" y="1114046"/>
            <a:ext cx="8290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overlap.csv</a:t>
            </a:r>
          </a:p>
        </p:txBody>
      </p:sp>
      <p:pic>
        <p:nvPicPr>
          <p:cNvPr id="48" name="Picture 29">
            <a:extLst>
              <a:ext uri="{FF2B5EF4-FFF2-40B4-BE49-F238E27FC236}">
                <a16:creationId xmlns:a16="http://schemas.microsoft.com/office/drawing/2014/main" id="{2074E591-3242-B29F-E912-F6EC6C1AC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761" y="1389986"/>
            <a:ext cx="524004" cy="56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02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9B03F2DF-DABD-C7EA-F2CB-4522E3430A90}"/>
              </a:ext>
            </a:extLst>
          </p:cNvPr>
          <p:cNvSpPr txBox="1"/>
          <p:nvPr/>
        </p:nvSpPr>
        <p:spPr>
          <a:xfrm>
            <a:off x="337335" y="46615"/>
            <a:ext cx="1915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Simplified </a:t>
            </a:r>
          </a:p>
          <a:p>
            <a:pPr algn="ctr"/>
            <a:r>
              <a:rPr lang="en-US" b="1" dirty="0"/>
              <a:t>surrogate pipeline</a:t>
            </a:r>
            <a:endParaRPr lang="nl-NL" b="1" dirty="0"/>
          </a:p>
        </p:txBody>
      </p:sp>
      <p:pic>
        <p:nvPicPr>
          <p:cNvPr id="4" name="Afbeelding 3" descr="Afbeelding met tekst, schermopname, diagram, lijn&#10;&#10;Automatisch gegenereerde beschrijving">
            <a:extLst>
              <a:ext uri="{FF2B5EF4-FFF2-40B4-BE49-F238E27FC236}">
                <a16:creationId xmlns:a16="http://schemas.microsoft.com/office/drawing/2014/main" id="{DFF26D52-2F21-86C0-1B99-C47FB400AE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630" y="821480"/>
            <a:ext cx="5852172" cy="4389129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85B865E3-7F41-BE2D-4D9B-53D53E975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31" y="2125476"/>
            <a:ext cx="4130615" cy="2885281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D444019B-BBD1-530D-4493-98BFF6F9D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31" y="1283109"/>
            <a:ext cx="2522040" cy="25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68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5484</TotalTime>
  <Words>472</Words>
  <Application>Microsoft Office PowerPoint</Application>
  <PresentationFormat>Breedbeeld</PresentationFormat>
  <Paragraphs>124</Paragraphs>
  <Slides>5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90</cp:revision>
  <dcterms:created xsi:type="dcterms:W3CDTF">2023-06-26T13:04:35Z</dcterms:created>
  <dcterms:modified xsi:type="dcterms:W3CDTF">2023-08-28T10:13:59Z</dcterms:modified>
</cp:coreProperties>
</file>