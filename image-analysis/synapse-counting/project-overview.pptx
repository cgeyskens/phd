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7B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D143C-C765-4578-971F-46391B4C2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971CBF-08F6-4743-9EA1-A2E136CD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D4935-966B-48C4-A716-3A0C88FD6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519B5-5B66-4905-8633-A5B3DECB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1DB69-5547-4575-8158-18CB26228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37458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85097-4398-4F13-BDDD-D2F514BB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8E435-5EA6-4D2A-9449-7A1AA360F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38F46-F97C-4A3A-A079-418CFA3F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25D03-5EE1-40CC-B6AB-4429EE18D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E509-DF51-4206-A82F-EE60CA4D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888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0072D-2E40-4A0E-AD38-67FC78D6D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BEB985-AE9E-485D-AEE1-A8584EFD1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4526F-3831-4785-B677-B835FBD4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EE188-6524-48E3-9D2B-C402186B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D3C34-BE83-41AF-8854-E5A0984B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6573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DCF79-610A-4B73-849C-4CC951B51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67E9A-C3ED-4057-92D6-4168F18FA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367F3-D4E5-4534-891A-B3A2CED80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4452D-D4C9-4F7E-8D92-AB8019B16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F817E-59F3-47DA-A42E-1C43DD460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BBE1A2-767C-4202-84A0-567D0524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9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488B9-B1A2-4300-92E9-E76FB6A51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F63AA-0BFA-4B03-B328-5F918DE34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F9DC4B-5123-4EC1-86D7-C83B5C52C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F38DC5-88A9-4DA4-93BE-C2CC2A196A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AF2C4-F5C9-4746-8197-EA5C8AB2FD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2B9342-1503-4D73-85C0-227272CEB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F31051-D9A5-4D0F-AA17-A9D391B2D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309CD7-E95B-46AB-9AAA-D1BA8CC31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9145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CED-C24C-4163-9E0B-2DE007FD5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5AFD69-F921-4AA4-9BF4-A826A1E7E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EF2AB2-A977-44A2-B3A7-7A570AD43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B028FF-1024-4531-80F5-CE71BDAE3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96302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C7ABA-E69E-464A-B2EC-9D321C4A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FDB298-A6D9-461E-8948-9A1B247EC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742E9-13D0-49B5-90F8-0108A6C54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3356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B700F-973C-41D2-BAF7-92AFA7ECB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8FF07-38D7-4B53-B3A6-157676D77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6CFCC-87ED-4A17-959E-20B0F6F2C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13E843-F1A0-414A-B00C-B3A53F145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48F7B0-351D-4761-AEDA-F770744B1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DDE15-1919-443A-AC92-CD38E279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761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C62F6-4A05-4397-8A06-C5335FE53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D7B2EE-3340-4042-AFE6-17C88681E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7A5DA3-87B3-4890-8965-4FD472DED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8F955-F550-456F-B87A-49C3EAF45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29F32-1E3A-4A97-B74C-FB7FA5A5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A4B0D-D7CD-472C-BDE5-28FF18C93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10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3BC6B-CF9C-4D27-BB24-F83BB56DE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253CEB-B292-42FE-8AD7-CB748ACA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5F771-28DE-49BB-9DCB-B31B67CF3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C787D-9310-4453-92E1-C2135AC27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0B72C-564D-4C87-9E05-20D41181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996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CC8A0B-8DE3-41F4-B966-151EE2E3C3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D8A3EB-3C47-4144-8A17-6EF6136B7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4124D-E9BE-4E1E-9378-D423DB2C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C01E7-9A6C-4D57-8E92-B1D9FCF6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D968A-BB35-4A4C-B574-2122CEAB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9733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3C657E-FD46-43AC-A0B3-E7BDD946A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D5A25-785C-457B-8439-BAC6FDAA7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835C4-64FC-4870-BBCE-FDDF19620A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1DFA4-C744-40DA-B848-2124ADC83FCF}" type="datetimeFigureOut">
              <a:rPr lang="nl-BE" smtClean="0"/>
              <a:t>25/08/2023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E0B29-BCC0-417D-833D-551199111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93130-E279-4F34-A966-9D7C9E29B6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9950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83348C-6A41-4EAC-AD4E-64A8C8A14D26}"/>
              </a:ext>
            </a:extLst>
          </p:cNvPr>
          <p:cNvSpPr txBox="1"/>
          <p:nvPr/>
        </p:nvSpPr>
        <p:spPr>
          <a:xfrm>
            <a:off x="0" y="0"/>
            <a:ext cx="357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 err="1"/>
              <a:t>Experimental</a:t>
            </a:r>
            <a:r>
              <a:rPr lang="nl-BE" b="1" dirty="0"/>
              <a:t> set-up: CRISPR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8D79A3-13FE-4DB3-9E28-F8EA295C5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750" y="1542741"/>
            <a:ext cx="557593" cy="95107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16895B7-5C37-4632-8F16-CC37FBC1641A}"/>
              </a:ext>
            </a:extLst>
          </p:cNvPr>
          <p:cNvCxnSpPr>
            <a:cxnSpLocks/>
          </p:cNvCxnSpPr>
          <p:nvPr/>
        </p:nvCxnSpPr>
        <p:spPr>
          <a:xfrm>
            <a:off x="1312223" y="1086592"/>
            <a:ext cx="52132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574D5DA-12C5-48FA-99B4-7AB62225D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063" y="2254803"/>
            <a:ext cx="1895332" cy="136618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3CBC46-E754-4AED-9DAA-2800D04B5333}"/>
              </a:ext>
            </a:extLst>
          </p:cNvPr>
          <p:cNvCxnSpPr/>
          <p:nvPr/>
        </p:nvCxnSpPr>
        <p:spPr>
          <a:xfrm>
            <a:off x="1858488" y="93221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B7522FA-97FE-4A93-9B4C-492AB6A3A1E2}"/>
              </a:ext>
            </a:extLst>
          </p:cNvPr>
          <p:cNvSpPr txBox="1"/>
          <p:nvPr/>
        </p:nvSpPr>
        <p:spPr>
          <a:xfrm>
            <a:off x="1673982" y="624436"/>
            <a:ext cx="369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BCEC7E-AAC7-45DC-A30F-17191E71268A}"/>
              </a:ext>
            </a:extLst>
          </p:cNvPr>
          <p:cNvSpPr txBox="1"/>
          <p:nvPr/>
        </p:nvSpPr>
        <p:spPr>
          <a:xfrm>
            <a:off x="1312223" y="1294900"/>
            <a:ext cx="1192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Viral</a:t>
            </a:r>
            <a:r>
              <a:rPr lang="nl-BE" sz="1400" dirty="0"/>
              <a:t> </a:t>
            </a:r>
            <a:r>
              <a:rPr lang="nl-BE" sz="1400" dirty="0" err="1"/>
              <a:t>injection</a:t>
            </a:r>
            <a:endParaRPr lang="nl-BE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5B9E5-CAC9-4FEA-8341-C32E186F243A}"/>
              </a:ext>
            </a:extLst>
          </p:cNvPr>
          <p:cNvSpPr txBox="1"/>
          <p:nvPr/>
        </p:nvSpPr>
        <p:spPr>
          <a:xfrm>
            <a:off x="5805054" y="1335446"/>
            <a:ext cx="1319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Histology</a:t>
            </a:r>
            <a:r>
              <a:rPr lang="nl-BE" sz="1400" dirty="0"/>
              <a:t> &amp; IHC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5EDE-66B9-4A61-9377-96E00CA6DAF3}"/>
              </a:ext>
            </a:extLst>
          </p:cNvPr>
          <p:cNvSpPr txBox="1"/>
          <p:nvPr/>
        </p:nvSpPr>
        <p:spPr>
          <a:xfrm>
            <a:off x="6096000" y="624435"/>
            <a:ext cx="9733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P21 or P28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4479D2-72E2-4A59-946A-57ADC013B84C}"/>
              </a:ext>
            </a:extLst>
          </p:cNvPr>
          <p:cNvCxnSpPr/>
          <p:nvPr/>
        </p:nvCxnSpPr>
        <p:spPr>
          <a:xfrm>
            <a:off x="6525491" y="90549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8A9B30C-6E71-47A4-98A8-EAE877E483CD}"/>
              </a:ext>
            </a:extLst>
          </p:cNvPr>
          <p:cNvCxnSpPr>
            <a:cxnSpLocks/>
          </p:cNvCxnSpPr>
          <p:nvPr/>
        </p:nvCxnSpPr>
        <p:spPr>
          <a:xfrm>
            <a:off x="22365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9FC694-72A5-4923-8E10-6A08A27689A1}"/>
              </a:ext>
            </a:extLst>
          </p:cNvPr>
          <p:cNvSpPr txBox="1"/>
          <p:nvPr/>
        </p:nvSpPr>
        <p:spPr>
          <a:xfrm>
            <a:off x="1943009" y="1817911"/>
            <a:ext cx="587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gRNA</a:t>
            </a:r>
            <a:endParaRPr lang="nl-BE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31C029-FBA6-4666-8D91-93B65452A692}"/>
              </a:ext>
            </a:extLst>
          </p:cNvPr>
          <p:cNvSpPr txBox="1"/>
          <p:nvPr/>
        </p:nvSpPr>
        <p:spPr>
          <a:xfrm>
            <a:off x="2530029" y="1810777"/>
            <a:ext cx="7028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control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83D738-3F18-429F-92B2-736830E36712}"/>
              </a:ext>
            </a:extLst>
          </p:cNvPr>
          <p:cNvCxnSpPr>
            <a:cxnSpLocks/>
          </p:cNvCxnSpPr>
          <p:nvPr/>
        </p:nvCxnSpPr>
        <p:spPr>
          <a:xfrm>
            <a:off x="28461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B0BFF42-0A75-4D6E-ABE8-31960545F512}"/>
              </a:ext>
            </a:extLst>
          </p:cNvPr>
          <p:cNvSpPr txBox="1"/>
          <p:nvPr/>
        </p:nvSpPr>
        <p:spPr>
          <a:xfrm>
            <a:off x="1162909" y="3750105"/>
            <a:ext cx="38379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Total: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proteins (5 different </a:t>
            </a:r>
            <a:r>
              <a:rPr lang="nl-BE" sz="1400" dirty="0" err="1"/>
              <a:t>conditions</a:t>
            </a:r>
            <a:r>
              <a:rPr lang="nl-BE" sz="1400" dirty="0"/>
              <a:t>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203841-BD1B-4449-BCA1-F7A324141F8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38" t="11726" r="10037" b="8024"/>
          <a:stretch/>
        </p:blipFill>
        <p:spPr>
          <a:xfrm rot="5400000">
            <a:off x="6656365" y="3309349"/>
            <a:ext cx="2007315" cy="422673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92F1919-E563-4E7B-BB5A-3EFD33427EA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69" t="11438" r="12094" b="8743"/>
          <a:stretch/>
        </p:blipFill>
        <p:spPr>
          <a:xfrm rot="5400000">
            <a:off x="6701071" y="1217100"/>
            <a:ext cx="1917904" cy="422673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5E5A528-0498-4B67-B363-45F36006374F}"/>
              </a:ext>
            </a:extLst>
          </p:cNvPr>
          <p:cNvSpPr txBox="1"/>
          <p:nvPr/>
        </p:nvSpPr>
        <p:spPr>
          <a:xfrm>
            <a:off x="5546654" y="2348791"/>
            <a:ext cx="65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PSD95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9EE9F7-57FF-49AF-851A-B7C504809F5C}"/>
              </a:ext>
            </a:extLst>
          </p:cNvPr>
          <p:cNvSpPr txBox="1"/>
          <p:nvPr/>
        </p:nvSpPr>
        <p:spPr>
          <a:xfrm>
            <a:off x="5546654" y="4393246"/>
            <a:ext cx="660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Vlgut1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986C3C-58AE-4706-8BA2-6D988AF7BF13}"/>
              </a:ext>
            </a:extLst>
          </p:cNvPr>
          <p:cNvSpPr/>
          <p:nvPr/>
        </p:nvSpPr>
        <p:spPr>
          <a:xfrm>
            <a:off x="7321137" y="243439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363A7-4B45-4402-AA05-A31B2CC464F5}"/>
              </a:ext>
            </a:extLst>
          </p:cNvPr>
          <p:cNvSpPr/>
          <p:nvPr/>
        </p:nvSpPr>
        <p:spPr>
          <a:xfrm>
            <a:off x="7321136" y="2735727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5CDFD94-41B5-49CC-A398-3CB8AA6739C8}"/>
              </a:ext>
            </a:extLst>
          </p:cNvPr>
          <p:cNvSpPr/>
          <p:nvPr/>
        </p:nvSpPr>
        <p:spPr>
          <a:xfrm>
            <a:off x="7321135" y="300192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631F27-E57D-418F-9D88-538227B7E938}"/>
              </a:ext>
            </a:extLst>
          </p:cNvPr>
          <p:cNvSpPr/>
          <p:nvPr/>
        </p:nvSpPr>
        <p:spPr>
          <a:xfrm>
            <a:off x="7660022" y="322234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F9D8D1-51D1-4666-B17E-BCF9AAEFA90B}"/>
              </a:ext>
            </a:extLst>
          </p:cNvPr>
          <p:cNvSpPr/>
          <p:nvPr/>
        </p:nvSpPr>
        <p:spPr>
          <a:xfrm>
            <a:off x="7535331" y="385565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4C6887-F304-40BE-9A29-0F4E850F0E3B}"/>
              </a:ext>
            </a:extLst>
          </p:cNvPr>
          <p:cNvSpPr/>
          <p:nvPr/>
        </p:nvSpPr>
        <p:spPr>
          <a:xfrm>
            <a:off x="7722367" y="352741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3E34E-1D74-4A85-AD6C-CA677AB9791D}"/>
              </a:ext>
            </a:extLst>
          </p:cNvPr>
          <p:cNvSpPr/>
          <p:nvPr/>
        </p:nvSpPr>
        <p:spPr>
          <a:xfrm>
            <a:off x="9507869" y="378175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96E8609-D7AE-4419-A8BC-E5BB4C6CBC42}"/>
              </a:ext>
            </a:extLst>
          </p:cNvPr>
          <p:cNvSpPr/>
          <p:nvPr/>
        </p:nvSpPr>
        <p:spPr>
          <a:xfrm>
            <a:off x="9242347" y="365706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14855C-6E22-4F64-9C7C-CF2739A7719F}"/>
              </a:ext>
            </a:extLst>
          </p:cNvPr>
          <p:cNvSpPr/>
          <p:nvPr/>
        </p:nvSpPr>
        <p:spPr>
          <a:xfrm>
            <a:off x="8931609" y="355018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7396F9-D6B0-40C7-914F-EC3C51E65458}"/>
              </a:ext>
            </a:extLst>
          </p:cNvPr>
          <p:cNvSpPr/>
          <p:nvPr/>
        </p:nvSpPr>
        <p:spPr>
          <a:xfrm>
            <a:off x="8620871" y="343044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7B8F91-A060-4417-AF7B-B071CC774E5A}"/>
              </a:ext>
            </a:extLst>
          </p:cNvPr>
          <p:cNvSpPr/>
          <p:nvPr/>
        </p:nvSpPr>
        <p:spPr>
          <a:xfrm>
            <a:off x="7258791" y="454028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C4DE2F0-7F76-4B16-A09F-B6CD2455DF03}"/>
              </a:ext>
            </a:extLst>
          </p:cNvPr>
          <p:cNvSpPr/>
          <p:nvPr/>
        </p:nvSpPr>
        <p:spPr>
          <a:xfrm>
            <a:off x="7258790" y="484162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1E981CE-BBFC-4738-898B-F9B92AED140B}"/>
              </a:ext>
            </a:extLst>
          </p:cNvPr>
          <p:cNvSpPr/>
          <p:nvPr/>
        </p:nvSpPr>
        <p:spPr>
          <a:xfrm>
            <a:off x="7258789" y="510781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D66A646-F3FC-429C-A03C-2D185579E9A0}"/>
              </a:ext>
            </a:extLst>
          </p:cNvPr>
          <p:cNvSpPr/>
          <p:nvPr/>
        </p:nvSpPr>
        <p:spPr>
          <a:xfrm>
            <a:off x="7597676" y="532823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2D50A26-4795-4D4E-A43E-759265E5E2EC}"/>
              </a:ext>
            </a:extLst>
          </p:cNvPr>
          <p:cNvSpPr/>
          <p:nvPr/>
        </p:nvSpPr>
        <p:spPr>
          <a:xfrm>
            <a:off x="7472985" y="596154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EEE3441-DC36-49CF-AD90-804A21200221}"/>
              </a:ext>
            </a:extLst>
          </p:cNvPr>
          <p:cNvSpPr/>
          <p:nvPr/>
        </p:nvSpPr>
        <p:spPr>
          <a:xfrm>
            <a:off x="7660021" y="563331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9CC044A-5ED4-4FF4-A97E-FE4D1668F1C4}"/>
              </a:ext>
            </a:extLst>
          </p:cNvPr>
          <p:cNvSpPr/>
          <p:nvPr/>
        </p:nvSpPr>
        <p:spPr>
          <a:xfrm>
            <a:off x="9445523" y="588764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D39D03C-03C1-4501-8251-ABE3D845ED5E}"/>
              </a:ext>
            </a:extLst>
          </p:cNvPr>
          <p:cNvSpPr/>
          <p:nvPr/>
        </p:nvSpPr>
        <p:spPr>
          <a:xfrm>
            <a:off x="9180001" y="576295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08C6445-EF94-4F03-B821-6187D170B948}"/>
              </a:ext>
            </a:extLst>
          </p:cNvPr>
          <p:cNvSpPr/>
          <p:nvPr/>
        </p:nvSpPr>
        <p:spPr>
          <a:xfrm>
            <a:off x="8869263" y="565607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8D5D4C9-B399-4470-9902-7E7BA3EC7F3A}"/>
              </a:ext>
            </a:extLst>
          </p:cNvPr>
          <p:cNvSpPr/>
          <p:nvPr/>
        </p:nvSpPr>
        <p:spPr>
          <a:xfrm>
            <a:off x="8558525" y="5536338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846D5E-5C74-4F81-BE42-FABEF819F1F1}"/>
              </a:ext>
            </a:extLst>
          </p:cNvPr>
          <p:cNvSpPr txBox="1"/>
          <p:nvPr/>
        </p:nvSpPr>
        <p:spPr>
          <a:xfrm>
            <a:off x="5984734" y="2046458"/>
            <a:ext cx="3225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Imaging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layers</a:t>
            </a:r>
            <a:r>
              <a:rPr lang="nl-BE" sz="1400" i="1" dirty="0"/>
              <a:t> of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hippocapus</a:t>
            </a:r>
            <a:endParaRPr lang="nl-BE" sz="1400" i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8D9B1D-27F2-4EE8-AE85-4BF1D4AF525F}"/>
              </a:ext>
            </a:extLst>
          </p:cNvPr>
          <p:cNvSpPr txBox="1"/>
          <p:nvPr/>
        </p:nvSpPr>
        <p:spPr>
          <a:xfrm>
            <a:off x="10032240" y="3121223"/>
            <a:ext cx="165295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+ </a:t>
            </a:r>
            <a:r>
              <a:rPr lang="nl-BE" sz="1400" dirty="0" err="1"/>
              <a:t>Inhibitory</a:t>
            </a:r>
            <a:r>
              <a:rPr lang="nl-BE" sz="1400" dirty="0"/>
              <a:t> markers</a:t>
            </a:r>
          </a:p>
          <a:p>
            <a:r>
              <a:rPr lang="nl-BE" sz="1400" dirty="0"/>
              <a:t>(VGAT &amp; </a:t>
            </a:r>
            <a:r>
              <a:rPr lang="nl-BE" sz="1400" dirty="0" err="1"/>
              <a:t>Gephyrin</a:t>
            </a:r>
            <a:r>
              <a:rPr lang="nl-BE" sz="1400" dirty="0"/>
              <a:t>)</a:t>
            </a:r>
          </a:p>
          <a:p>
            <a:endParaRPr lang="nl-BE" sz="1400" dirty="0"/>
          </a:p>
          <a:p>
            <a:r>
              <a:rPr lang="nl-BE" sz="1400" dirty="0"/>
              <a:t>+ </a:t>
            </a:r>
            <a:r>
              <a:rPr lang="nl-BE" sz="1400" dirty="0" err="1"/>
              <a:t>other</a:t>
            </a:r>
            <a:r>
              <a:rPr lang="nl-BE" sz="1400" dirty="0"/>
              <a:t> markers </a:t>
            </a:r>
          </a:p>
          <a:p>
            <a:r>
              <a:rPr lang="nl-BE" sz="1400" dirty="0"/>
              <a:t>(Vglut2, SPO, … )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A3C10-2644-4B18-98D8-C6710C34BDB8}"/>
              </a:ext>
            </a:extLst>
          </p:cNvPr>
          <p:cNvSpPr txBox="1"/>
          <p:nvPr/>
        </p:nvSpPr>
        <p:spPr>
          <a:xfrm>
            <a:off x="280868" y="4648378"/>
            <a:ext cx="482080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400" dirty="0"/>
              <a:t>Goal of </a:t>
            </a:r>
            <a:r>
              <a:rPr lang="nl-BE" sz="1400" dirty="0" err="1"/>
              <a:t>the</a:t>
            </a:r>
            <a:r>
              <a:rPr lang="nl-BE" sz="1400" dirty="0"/>
              <a:t> image analysis: </a:t>
            </a:r>
          </a:p>
          <a:p>
            <a:pPr algn="ctr"/>
            <a:endParaRPr lang="nl-BE" sz="1400" dirty="0"/>
          </a:p>
          <a:p>
            <a:r>
              <a:rPr lang="nl-BE" sz="1400" i="1" dirty="0" err="1"/>
              <a:t>quantifying</a:t>
            </a:r>
            <a:r>
              <a:rPr lang="nl-BE" sz="1400" i="1" dirty="0"/>
              <a:t>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colocalized</a:t>
            </a:r>
            <a:r>
              <a:rPr lang="nl-BE" sz="1400" i="1" dirty="0"/>
              <a:t>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puncta</a:t>
            </a:r>
            <a:r>
              <a:rPr lang="nl-BE" sz="1400" i="1" dirty="0"/>
              <a:t> in </a:t>
            </a:r>
            <a:r>
              <a:rPr lang="nl-BE" sz="1400" i="1" dirty="0" err="1"/>
              <a:t>gRNA</a:t>
            </a:r>
            <a:r>
              <a:rPr lang="nl-BE" sz="1400" i="1" dirty="0"/>
              <a:t> </a:t>
            </a:r>
            <a:r>
              <a:rPr lang="nl-BE" sz="1400" i="1" dirty="0" err="1"/>
              <a:t>vs</a:t>
            </a:r>
            <a:r>
              <a:rPr lang="nl-BE" sz="1400" i="1" dirty="0"/>
              <a:t> Control</a:t>
            </a:r>
          </a:p>
          <a:p>
            <a:endParaRPr lang="nl-BE" sz="1400" i="1" dirty="0"/>
          </a:p>
          <a:p>
            <a:r>
              <a:rPr lang="nl-BE" sz="1400" dirty="0"/>
              <a:t>-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different proteins</a:t>
            </a:r>
          </a:p>
          <a:p>
            <a:r>
              <a:rPr lang="nl-BE" sz="1400" dirty="0"/>
              <a:t>- in different </a:t>
            </a:r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layers</a:t>
            </a:r>
            <a:r>
              <a:rPr lang="nl-BE" sz="1400" dirty="0"/>
              <a:t> of </a:t>
            </a:r>
            <a:r>
              <a:rPr lang="nl-BE" sz="1400" dirty="0" err="1"/>
              <a:t>the</a:t>
            </a:r>
            <a:r>
              <a:rPr lang="nl-BE" sz="1400" dirty="0"/>
              <a:t> hippocampus</a:t>
            </a:r>
          </a:p>
          <a:p>
            <a:r>
              <a:rPr lang="nl-BE" sz="1400" dirty="0"/>
              <a:t>- </a:t>
            </a:r>
            <a:r>
              <a:rPr lang="nl-BE" sz="1400" dirty="0" err="1"/>
              <a:t>with</a:t>
            </a:r>
            <a:r>
              <a:rPr lang="nl-BE" sz="1400" dirty="0"/>
              <a:t> different </a:t>
            </a:r>
            <a:r>
              <a:rPr lang="nl-BE" sz="1400" dirty="0" err="1"/>
              <a:t>synaptic</a:t>
            </a:r>
            <a:r>
              <a:rPr lang="nl-BE" sz="1400" dirty="0"/>
              <a:t> markers</a:t>
            </a:r>
          </a:p>
          <a:p>
            <a:r>
              <a:rPr lang="nl-BE" sz="1400" dirty="0"/>
              <a:t>- </a:t>
            </a:r>
            <a:r>
              <a:rPr lang="nl-BE" sz="1400" dirty="0" err="1"/>
              <a:t>with</a:t>
            </a:r>
            <a:r>
              <a:rPr lang="nl-BE" sz="1400" dirty="0"/>
              <a:t> different analyses: </a:t>
            </a:r>
            <a:r>
              <a:rPr lang="nl-BE" sz="1400" dirty="0" err="1"/>
              <a:t>coloc</a:t>
            </a:r>
            <a:r>
              <a:rPr lang="nl-BE" sz="1400" dirty="0"/>
              <a:t>, overlap, </a:t>
            </a:r>
            <a:r>
              <a:rPr lang="nl-BE" sz="1400" dirty="0" err="1"/>
              <a:t>mfi</a:t>
            </a:r>
            <a:r>
              <a:rPr lang="nl-BE" sz="1400" dirty="0"/>
              <a:t>, </a:t>
            </a:r>
            <a:r>
              <a:rPr lang="nl-BE" sz="1400" dirty="0" err="1"/>
              <a:t>puncta</a:t>
            </a:r>
            <a:r>
              <a:rPr lang="nl-BE" sz="1400" dirty="0"/>
              <a:t> </a:t>
            </a:r>
            <a:r>
              <a:rPr lang="nl-BE" sz="1400" dirty="0" err="1"/>
              <a:t>density</a:t>
            </a:r>
            <a:r>
              <a:rPr lang="nl-BE" sz="1400" dirty="0"/>
              <a:t>…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069922-8AB6-4B5E-9616-95A5F254D149}"/>
              </a:ext>
            </a:extLst>
          </p:cNvPr>
          <p:cNvSpPr txBox="1"/>
          <p:nvPr/>
        </p:nvSpPr>
        <p:spPr>
          <a:xfrm>
            <a:off x="6484878" y="2472257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8E9BE7-387E-4DA8-BED2-F1E4EF90905D}"/>
              </a:ext>
            </a:extLst>
          </p:cNvPr>
          <p:cNvSpPr txBox="1"/>
          <p:nvPr/>
        </p:nvSpPr>
        <p:spPr>
          <a:xfrm>
            <a:off x="9199070" y="3182488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C6BEFF-8D59-45F3-83AF-508D0A597A73}"/>
              </a:ext>
            </a:extLst>
          </p:cNvPr>
          <p:cNvSpPr txBox="1"/>
          <p:nvPr/>
        </p:nvSpPr>
        <p:spPr>
          <a:xfrm>
            <a:off x="6638327" y="3449462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24ACFD-2172-46EF-B188-E574878BFC2A}"/>
              </a:ext>
            </a:extLst>
          </p:cNvPr>
          <p:cNvSpPr txBox="1"/>
          <p:nvPr/>
        </p:nvSpPr>
        <p:spPr>
          <a:xfrm>
            <a:off x="6480385" y="4658434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C468F0-E692-4C44-AE5C-6FE1356143BE}"/>
              </a:ext>
            </a:extLst>
          </p:cNvPr>
          <p:cNvSpPr txBox="1"/>
          <p:nvPr/>
        </p:nvSpPr>
        <p:spPr>
          <a:xfrm>
            <a:off x="9194577" y="5368665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BD9383-ECDF-4E10-88CD-3C90EC9541BC}"/>
              </a:ext>
            </a:extLst>
          </p:cNvPr>
          <p:cNvSpPr txBox="1"/>
          <p:nvPr/>
        </p:nvSpPr>
        <p:spPr>
          <a:xfrm>
            <a:off x="6633834" y="563563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0A15B40-1A12-4175-B023-618D26E7C4A6}"/>
              </a:ext>
            </a:extLst>
          </p:cNvPr>
          <p:cNvSpPr/>
          <p:nvPr/>
        </p:nvSpPr>
        <p:spPr>
          <a:xfrm>
            <a:off x="186489" y="4602634"/>
            <a:ext cx="5021276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9007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4E8F1B-25B7-4CF7-B895-2618CEC7A7BC}"/>
              </a:ext>
            </a:extLst>
          </p:cNvPr>
          <p:cNvSpPr txBox="1"/>
          <p:nvPr/>
        </p:nvSpPr>
        <p:spPr>
          <a:xfrm>
            <a:off x="0" y="0"/>
            <a:ext cx="2397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/>
              <a:t>Image analysis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725F0A-DEA9-4D70-85FB-1609D267FEBE}"/>
              </a:ext>
            </a:extLst>
          </p:cNvPr>
          <p:cNvSpPr/>
          <p:nvPr/>
        </p:nvSpPr>
        <p:spPr>
          <a:xfrm>
            <a:off x="3980349" y="632554"/>
            <a:ext cx="33645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3B625C-882D-4A3E-A730-251C5E01D478}"/>
              </a:ext>
            </a:extLst>
          </p:cNvPr>
          <p:cNvSpPr txBox="1"/>
          <p:nvPr/>
        </p:nvSpPr>
        <p:spPr>
          <a:xfrm>
            <a:off x="3980349" y="592800"/>
            <a:ext cx="33860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1400" dirty="0"/>
              <a:t>Script1: </a:t>
            </a:r>
            <a:r>
              <a:rPr lang="nl-BE" sz="1400" dirty="0" err="1"/>
              <a:t>getting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</a:t>
            </a:r>
          </a:p>
          <a:p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VGLUT1-PSD95 image </a:t>
            </a:r>
            <a:r>
              <a:rPr lang="nl-BE" sz="1400" dirty="0" err="1"/>
              <a:t>within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an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control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664FC-EFE2-4BC8-8726-7D378DF5A87E}"/>
              </a:ext>
            </a:extLst>
          </p:cNvPr>
          <p:cNvSpPr txBox="1"/>
          <p:nvPr/>
        </p:nvSpPr>
        <p:spPr>
          <a:xfrm>
            <a:off x="4373382" y="234922"/>
            <a:ext cx="2109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Input: </a:t>
            </a:r>
            <a:r>
              <a:rPr lang="nl-BE" sz="1400" dirty="0"/>
              <a:t>high </a:t>
            </a:r>
            <a:r>
              <a:rPr lang="nl-BE" sz="1400" dirty="0" err="1"/>
              <a:t>res</a:t>
            </a:r>
            <a:r>
              <a:rPr lang="nl-BE" sz="1400" dirty="0"/>
              <a:t> images 63X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E96894-4772-4B41-AD2C-AA2458D3216D}"/>
              </a:ext>
            </a:extLst>
          </p:cNvPr>
          <p:cNvSpPr txBox="1"/>
          <p:nvPr/>
        </p:nvSpPr>
        <p:spPr>
          <a:xfrm>
            <a:off x="4001860" y="1281363"/>
            <a:ext cx="4362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image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6BAFF0-679F-4A8E-BCCD-D5E903DE9541}"/>
              </a:ext>
            </a:extLst>
          </p:cNvPr>
          <p:cNvCxnSpPr/>
          <p:nvPr/>
        </p:nvCxnSpPr>
        <p:spPr>
          <a:xfrm>
            <a:off x="5290139" y="1589140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675BDA0-7C08-4C79-BF0B-510846D45A8D}"/>
              </a:ext>
            </a:extLst>
          </p:cNvPr>
          <p:cNvSpPr/>
          <p:nvPr/>
        </p:nvSpPr>
        <p:spPr>
          <a:xfrm>
            <a:off x="4000267" y="2158899"/>
            <a:ext cx="3086333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6B1E8-96AC-45D3-9BE3-181E7CC7BDD0}"/>
              </a:ext>
            </a:extLst>
          </p:cNvPr>
          <p:cNvSpPr txBox="1"/>
          <p:nvPr/>
        </p:nvSpPr>
        <p:spPr>
          <a:xfrm>
            <a:off x="4000267" y="2175526"/>
            <a:ext cx="30834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Script2: </a:t>
            </a:r>
            <a:r>
              <a:rPr lang="nl-BE" sz="1400" dirty="0" err="1"/>
              <a:t>calculate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  <a:p>
            <a:r>
              <a:rPr lang="nl-BE" sz="1400" dirty="0"/>
              <a:t>of </a:t>
            </a:r>
            <a:r>
              <a:rPr lang="nl-BE" sz="1400" dirty="0" err="1"/>
              <a:t>that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880C7-4273-4351-8CD3-BA96A37D395C}"/>
              </a:ext>
            </a:extLst>
          </p:cNvPr>
          <p:cNvSpPr txBox="1"/>
          <p:nvPr/>
        </p:nvSpPr>
        <p:spPr>
          <a:xfrm>
            <a:off x="3914505" y="2807708"/>
            <a:ext cx="5305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</a:t>
            </a:r>
            <a:r>
              <a:rPr lang="nl-BE" sz="1400" dirty="0" err="1"/>
              <a:t>mean</a:t>
            </a:r>
            <a:r>
              <a:rPr lang="nl-BE" sz="1400" dirty="0"/>
              <a:t> parameters &amp; (2) </a:t>
            </a:r>
            <a:r>
              <a:rPr lang="nl-BE" sz="1400" dirty="0" err="1"/>
              <a:t>figure</a:t>
            </a:r>
            <a:r>
              <a:rPr lang="nl-BE" sz="1400" dirty="0"/>
              <a:t> of </a:t>
            </a:r>
            <a:r>
              <a:rPr lang="nl-BE" sz="1400" dirty="0" err="1"/>
              <a:t>binned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1F2D17-A24E-4969-B0F9-C687E823E61E}"/>
              </a:ext>
            </a:extLst>
          </p:cNvPr>
          <p:cNvSpPr/>
          <p:nvPr/>
        </p:nvSpPr>
        <p:spPr>
          <a:xfrm>
            <a:off x="4000266" y="3804048"/>
            <a:ext cx="35297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C1F3C0-1C44-4915-88C1-DCC201DCFC63}"/>
              </a:ext>
            </a:extLst>
          </p:cNvPr>
          <p:cNvSpPr txBox="1"/>
          <p:nvPr/>
        </p:nvSpPr>
        <p:spPr>
          <a:xfrm>
            <a:off x="4000267" y="3820675"/>
            <a:ext cx="3529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Script3: </a:t>
            </a:r>
            <a:r>
              <a:rPr lang="nl-BE" sz="1400" dirty="0" err="1"/>
              <a:t>actually</a:t>
            </a:r>
            <a:r>
              <a:rPr lang="nl-BE" sz="1400" dirty="0"/>
              <a:t> </a:t>
            </a:r>
            <a:r>
              <a:rPr lang="nl-BE" sz="1400" dirty="0" err="1"/>
              <a:t>calculating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r>
              <a:rPr lang="nl-BE" sz="1400" dirty="0"/>
              <a:t> </a:t>
            </a:r>
            <a:r>
              <a:rPr lang="nl-BE" sz="1400" dirty="0" err="1"/>
              <a:t>nr</a:t>
            </a:r>
            <a:r>
              <a:rPr lang="nl-BE" sz="1400" dirty="0"/>
              <a:t> </a:t>
            </a:r>
            <a:r>
              <a:rPr lang="nl-BE" sz="1400" dirty="0" err="1"/>
              <a:t>between</a:t>
            </a:r>
            <a:r>
              <a:rPr lang="nl-BE" sz="1400" dirty="0"/>
              <a:t> </a:t>
            </a:r>
            <a:r>
              <a:rPr lang="nl-BE" sz="1400" dirty="0" err="1"/>
              <a:t>gRNA</a:t>
            </a:r>
            <a:r>
              <a:rPr lang="nl-BE" sz="1400" dirty="0"/>
              <a:t> </a:t>
            </a:r>
            <a:r>
              <a:rPr lang="nl-BE" sz="1400" dirty="0" err="1"/>
              <a:t>and</a:t>
            </a:r>
            <a:r>
              <a:rPr lang="nl-BE" sz="1400" dirty="0"/>
              <a:t> control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CFBD8DC-B5C4-4751-A331-8344ABB587D1}"/>
              </a:ext>
            </a:extLst>
          </p:cNvPr>
          <p:cNvCxnSpPr/>
          <p:nvPr/>
        </p:nvCxnSpPr>
        <p:spPr>
          <a:xfrm>
            <a:off x="5346287" y="3239472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73F628-C71B-4A97-8137-EAA440EA2410}"/>
              </a:ext>
            </a:extLst>
          </p:cNvPr>
          <p:cNvSpPr/>
          <p:nvPr/>
        </p:nvSpPr>
        <p:spPr>
          <a:xfrm>
            <a:off x="2313357" y="397042"/>
            <a:ext cx="2715843" cy="3254542"/>
          </a:xfrm>
          <a:custGeom>
            <a:avLst/>
            <a:gdLst>
              <a:gd name="connsiteX0" fmla="*/ 1831522 w 2715843"/>
              <a:gd name="connsiteY0" fmla="*/ 0 h 3254542"/>
              <a:gd name="connsiteX1" fmla="*/ 14754 w 2715843"/>
              <a:gd name="connsiteY1" fmla="*/ 1672390 h 3254542"/>
              <a:gd name="connsiteX2" fmla="*/ 2715843 w 2715843"/>
              <a:gd name="connsiteY2" fmla="*/ 3254542 h 3254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5843" h="3254542">
                <a:moveTo>
                  <a:pt x="1831522" y="0"/>
                </a:moveTo>
                <a:cubicBezTo>
                  <a:pt x="849444" y="564983"/>
                  <a:pt x="-132633" y="1129966"/>
                  <a:pt x="14754" y="1672390"/>
                </a:cubicBezTo>
                <a:cubicBezTo>
                  <a:pt x="162141" y="2214814"/>
                  <a:pt x="1438992" y="2734678"/>
                  <a:pt x="2715843" y="3254542"/>
                </a:cubicBezTo>
              </a:path>
            </a:pathLst>
          </a:custGeom>
          <a:noFill/>
          <a:ln>
            <a:solidFill>
              <a:srgbClr val="507BC8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0D608E-6962-4233-BF12-F8DBE7C720F9}"/>
              </a:ext>
            </a:extLst>
          </p:cNvPr>
          <p:cNvSpPr txBox="1"/>
          <p:nvPr/>
        </p:nvSpPr>
        <p:spPr>
          <a:xfrm>
            <a:off x="3914505" y="4482827"/>
            <a:ext cx="33788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image </a:t>
            </a:r>
            <a:r>
              <a:rPr lang="nl-BE" sz="1400" dirty="0" err="1"/>
              <a:t>with</a:t>
            </a:r>
            <a:r>
              <a:rPr lang="nl-BE" sz="1400" dirty="0"/>
              <a:t> spots &amp; (2) </a:t>
            </a:r>
            <a:r>
              <a:rPr lang="nl-BE" sz="1400" dirty="0" err="1"/>
              <a:t>figures</a:t>
            </a:r>
            <a:r>
              <a:rPr lang="nl-BE" sz="1400" dirty="0"/>
              <a:t> &amp;</a:t>
            </a:r>
          </a:p>
          <a:p>
            <a:r>
              <a:rPr lang="nl-BE" sz="1400" dirty="0"/>
              <a:t>(3)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584416D-F00C-46A0-B79A-7DA5D7E16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927813"/>
            <a:ext cx="2184695" cy="846805"/>
          </a:xfrm>
          <a:prstGeom prst="rect">
            <a:avLst/>
          </a:prstGeom>
        </p:spPr>
      </p:pic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97DD68E-E636-4950-B689-AE18401B5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531430"/>
              </p:ext>
            </p:extLst>
          </p:nvPr>
        </p:nvGraphicFramePr>
        <p:xfrm>
          <a:off x="2820569" y="5245650"/>
          <a:ext cx="672556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71">
                  <a:extLst>
                    <a:ext uri="{9D8B030D-6E8A-4147-A177-3AD203B41FA5}">
                      <a16:colId xmlns:a16="http://schemas.microsoft.com/office/drawing/2014/main" val="3952002606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1583358"/>
                    </a:ext>
                  </a:extLst>
                </a:gridCol>
                <a:gridCol w="2131621">
                  <a:extLst>
                    <a:ext uri="{9D8B030D-6E8A-4147-A177-3AD203B41FA5}">
                      <a16:colId xmlns:a16="http://schemas.microsoft.com/office/drawing/2014/main" val="1960881569"/>
                    </a:ext>
                  </a:extLst>
                </a:gridCol>
                <a:gridCol w="1692234">
                  <a:extLst>
                    <a:ext uri="{9D8B030D-6E8A-4147-A177-3AD203B41FA5}">
                      <a16:colId xmlns:a16="http://schemas.microsoft.com/office/drawing/2014/main" val="3594904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layer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markers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Condition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Colocalized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puncta</a:t>
                      </a:r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91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CA1 SR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80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64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CA1 SLM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78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337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18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323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90525"/>
            <a:ext cx="7591792" cy="3381375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172868" y="1607361"/>
            <a:ext cx="12250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Extracting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optimal</a:t>
            </a:r>
            <a:endParaRPr lang="nl-BE" sz="1100" dirty="0">
              <a:solidFill>
                <a:schemeClr val="bg1"/>
              </a:solidFill>
            </a:endParaRP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135549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7032007" y="2281992"/>
            <a:ext cx="157682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967150" y="362631"/>
            <a:ext cx="48030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</a:t>
            </a: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A2C0BCB-7CC0-4FB9-828C-9B5A3DBBA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749" y="1930882"/>
            <a:ext cx="508808" cy="562533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</p:cNvCxnSpPr>
          <p:nvPr/>
        </p:nvCxnSpPr>
        <p:spPr>
          <a:xfrm>
            <a:off x="7413685" y="2502982"/>
            <a:ext cx="0" cy="12625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780105" y="1607361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7C1E42D-F94F-4CEA-BEA6-D7793B0C370B}"/>
              </a:ext>
            </a:extLst>
          </p:cNvPr>
          <p:cNvCxnSpPr>
            <a:cxnSpLocks/>
          </p:cNvCxnSpPr>
          <p:nvPr/>
        </p:nvCxnSpPr>
        <p:spPr>
          <a:xfrm>
            <a:off x="8010585" y="2502982"/>
            <a:ext cx="0" cy="126891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60" y="2041987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876046" y="1607360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411547" y="1113851"/>
            <a:ext cx="10054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opt-param.csv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spots.tiff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7121623" y="1368182"/>
            <a:ext cx="11352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mean-param.csv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BA4134-3E34-40E1-8859-A9510EB592AA}"/>
              </a:ext>
            </a:extLst>
          </p:cNvPr>
          <p:cNvSpPr txBox="1"/>
          <p:nvPr/>
        </p:nvSpPr>
        <p:spPr>
          <a:xfrm>
            <a:off x="7122288" y="1591677"/>
            <a:ext cx="11705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mean-param.png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8626108" y="1603353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63" y="2037979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8695603" y="1603352"/>
            <a:ext cx="11496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colocalized</a:t>
            </a:r>
            <a:r>
              <a:rPr lang="nl-BE" sz="1100" dirty="0">
                <a:solidFill>
                  <a:schemeClr val="bg1"/>
                </a:solidFill>
              </a:rPr>
              <a:t> spots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233" y="1930881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9875918" y="2281992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56324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8437379" y="2370789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8437379" y="2370789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Picture 86">
            <a:extLst>
              <a:ext uri="{FF2B5EF4-FFF2-40B4-BE49-F238E27FC236}">
                <a16:creationId xmlns:a16="http://schemas.microsoft.com/office/drawing/2014/main" id="{66B5FC2D-EA49-49B3-A493-4E1B718E2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5477" y="2146868"/>
            <a:ext cx="508808" cy="56253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3280" y="2143551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02929" y="1544738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statistics.csv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DB57BA-41F1-4D5D-9213-E45EF1CF560D}"/>
              </a:ext>
            </a:extLst>
          </p:cNvPr>
          <p:cNvSpPr txBox="1"/>
          <p:nvPr/>
        </p:nvSpPr>
        <p:spPr>
          <a:xfrm>
            <a:off x="10597132" y="1771405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statistics_fig.csv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633671" y="2954059"/>
            <a:ext cx="11192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image_spots.csv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AFDF4DC6-3F02-4BE0-B559-F212CE6EA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627" y="2169695"/>
            <a:ext cx="495101" cy="54445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6FB011A4-6D03-412A-91FE-D66BA2CC8C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157" y="3218986"/>
            <a:ext cx="495101" cy="544457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E085-5AB5-48E5-B43E-42D10D0C0C0A}"/>
              </a:ext>
            </a:extLst>
          </p:cNvPr>
          <p:cNvSpPr txBox="1"/>
          <p:nvPr/>
        </p:nvSpPr>
        <p:spPr>
          <a:xfrm>
            <a:off x="968282" y="4545147"/>
            <a:ext cx="27815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opt-param.csv</a:t>
            </a:r>
          </a:p>
          <a:p>
            <a:pPr algn="ctr"/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imported</a:t>
            </a:r>
            <a:r>
              <a:rPr lang="nl-BE" sz="1100" i="1" dirty="0"/>
              <a:t> image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1174F75-F337-4050-99B0-B316B6FF528C}"/>
              </a:ext>
            </a:extLst>
          </p:cNvPr>
          <p:cNvSpPr/>
          <p:nvPr/>
        </p:nvSpPr>
        <p:spPr>
          <a:xfrm>
            <a:off x="260568" y="5161555"/>
            <a:ext cx="4196983" cy="6001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spots.tiff</a:t>
            </a:r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on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that</a:t>
            </a:r>
            <a:r>
              <a:rPr lang="nl-BE" sz="1100" i="1" dirty="0"/>
              <a:t> image</a:t>
            </a:r>
          </a:p>
          <a:p>
            <a:pPr algn="ctr"/>
            <a:endParaRPr lang="nl-BE" sz="1100" dirty="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9ECAC5B-07A4-4A42-BCEC-7A4098F5FDBF}"/>
              </a:ext>
            </a:extLst>
          </p:cNvPr>
          <p:cNvSpPr/>
          <p:nvPr/>
        </p:nvSpPr>
        <p:spPr>
          <a:xfrm>
            <a:off x="5310224" y="4530842"/>
            <a:ext cx="210346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mean-param.csv</a:t>
            </a:r>
          </a:p>
          <a:p>
            <a:pPr algn="ctr"/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region</a:t>
            </a:r>
            <a:endParaRPr lang="nl-BE" sz="110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67E59F9-70B9-4071-960A-75D0DEACF1EA}"/>
              </a:ext>
            </a:extLst>
          </p:cNvPr>
          <p:cNvSpPr/>
          <p:nvPr/>
        </p:nvSpPr>
        <p:spPr>
          <a:xfrm>
            <a:off x="4855420" y="5155731"/>
            <a:ext cx="306526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mean-param.png</a:t>
            </a:r>
          </a:p>
          <a:p>
            <a:pPr algn="ctr"/>
            <a:r>
              <a:rPr lang="nl-BE" sz="1100" i="1" dirty="0" err="1"/>
              <a:t>Binned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to</a:t>
            </a:r>
            <a:r>
              <a:rPr lang="nl-BE" sz="1100" i="1" dirty="0"/>
              <a:t> check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distribution</a:t>
            </a:r>
            <a:endParaRPr lang="nl-BE" sz="11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29E801-4C0A-4155-A4C1-AF817FF5ABB4}"/>
              </a:ext>
            </a:extLst>
          </p:cNvPr>
          <p:cNvSpPr/>
          <p:nvPr/>
        </p:nvSpPr>
        <p:spPr>
          <a:xfrm>
            <a:off x="8824252" y="4455321"/>
            <a:ext cx="239200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statistics.csv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</a:t>
            </a:r>
            <a:r>
              <a:rPr lang="nl-BE" sz="1100" i="1" dirty="0" err="1"/>
              <a:t>concerning</a:t>
            </a:r>
            <a:r>
              <a:rPr lang="nl-BE" sz="1100" i="1" dirty="0"/>
              <a:t>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calculation</a:t>
            </a:r>
            <a:endParaRPr lang="nl-BE" sz="11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73833DE-01DC-4DBC-AC0D-167CC8010FFD}"/>
              </a:ext>
            </a:extLst>
          </p:cNvPr>
          <p:cNvSpPr/>
          <p:nvPr/>
        </p:nvSpPr>
        <p:spPr>
          <a:xfrm>
            <a:off x="9406742" y="5156299"/>
            <a:ext cx="141897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statistics.png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in </a:t>
            </a:r>
            <a:r>
              <a:rPr lang="nl-BE" sz="1100" i="1" dirty="0" err="1"/>
              <a:t>figures</a:t>
            </a:r>
            <a:endParaRPr lang="nl-BE" sz="1100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08A4504-F491-4A37-8A2C-07DEA863EDD7}"/>
              </a:ext>
            </a:extLst>
          </p:cNvPr>
          <p:cNvSpPr/>
          <p:nvPr/>
        </p:nvSpPr>
        <p:spPr>
          <a:xfrm>
            <a:off x="8256870" y="5785529"/>
            <a:ext cx="375134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 err="1"/>
              <a:t>image_spots</a:t>
            </a:r>
            <a:endParaRPr lang="nl-BE" sz="1100" dirty="0"/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endParaRPr lang="nl-BE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406" y="536129"/>
            <a:ext cx="2184695" cy="846805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6A656332-7B48-3298-481C-C9F95B2BB2BC}"/>
              </a:ext>
            </a:extLst>
          </p:cNvPr>
          <p:cNvSpPr txBox="1"/>
          <p:nvPr/>
        </p:nvSpPr>
        <p:spPr>
          <a:xfrm>
            <a:off x="353267" y="161104"/>
            <a:ext cx="1758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Original pipeline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542943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31531"/>
            <a:ext cx="8067740" cy="3381375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391682" y="1607361"/>
            <a:ext cx="7873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thresholds</a:t>
            </a:r>
            <a:endParaRPr lang="nl-BE" sz="1100" dirty="0">
              <a:solidFill>
                <a:schemeClr val="bg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946806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6599454" y="1904077"/>
            <a:ext cx="915779" cy="892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293806" y="362631"/>
            <a:ext cx="666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 – </a:t>
            </a:r>
            <a:r>
              <a:rPr lang="nl-BE" sz="2000" dirty="0" err="1">
                <a:solidFill>
                  <a:schemeClr val="bg1"/>
                </a:solidFill>
              </a:rPr>
              <a:t>surrogate</a:t>
            </a:r>
            <a:r>
              <a:rPr lang="nl-BE" sz="2000" dirty="0">
                <a:solidFill>
                  <a:schemeClr val="bg1"/>
                </a:solidFill>
              </a:rPr>
              <a:t> pipeline</a:t>
            </a: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6991229" y="2118015"/>
            <a:ext cx="0" cy="164753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349644" y="1601898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299" y="2036524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445585" y="1601897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thresholds</a:t>
            </a:r>
            <a:endParaRPr lang="nl-BE" sz="1100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372713" y="1209483"/>
            <a:ext cx="10005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thresholds.csv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6424385" y="1161173"/>
            <a:ext cx="136768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mean-thresholds.csv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7515233" y="1592309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888" y="2026935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7789115" y="1592308"/>
            <a:ext cx="74090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overlap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227" y="1555482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8765043" y="2190268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453885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7343783" y="2379708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7343783" y="2379708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5734" y="1471093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43536" y="1237732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overlap.csv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844347" y="2263149"/>
            <a:ext cx="8531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dotplot.png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52" y="536129"/>
            <a:ext cx="2184695" cy="846805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150A32B2-BE43-92C3-0D90-C0C7BE9F92F4}"/>
              </a:ext>
            </a:extLst>
          </p:cNvPr>
          <p:cNvSpPr txBox="1"/>
          <p:nvPr/>
        </p:nvSpPr>
        <p:spPr>
          <a:xfrm>
            <a:off x="337335" y="46615"/>
            <a:ext cx="1915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Simplified </a:t>
            </a:r>
          </a:p>
          <a:p>
            <a:pPr algn="ctr"/>
            <a:r>
              <a:rPr lang="en-US" b="1" dirty="0"/>
              <a:t>surrogate pipeline</a:t>
            </a:r>
            <a:endParaRPr lang="nl-NL" b="1" dirty="0"/>
          </a:p>
        </p:txBody>
      </p:sp>
      <p:sp>
        <p:nvSpPr>
          <p:cNvPr id="23" name="Rectangle: Rounded Corners 40">
            <a:extLst>
              <a:ext uri="{FF2B5EF4-FFF2-40B4-BE49-F238E27FC236}">
                <a16:creationId xmlns:a16="http://schemas.microsoft.com/office/drawing/2014/main" id="{9E0400E2-B1B3-A488-AEFF-CE5AC5530EE0}"/>
              </a:ext>
            </a:extLst>
          </p:cNvPr>
          <p:cNvSpPr/>
          <p:nvPr/>
        </p:nvSpPr>
        <p:spPr>
          <a:xfrm>
            <a:off x="9063764" y="1582338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26" name="Picture 41">
            <a:extLst>
              <a:ext uri="{FF2B5EF4-FFF2-40B4-BE49-F238E27FC236}">
                <a16:creationId xmlns:a16="http://schemas.microsoft.com/office/drawing/2014/main" id="{930AA0C1-55D1-DE21-7C82-7383DC262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419" y="2016964"/>
            <a:ext cx="489335" cy="500513"/>
          </a:xfrm>
          <a:prstGeom prst="rect">
            <a:avLst/>
          </a:prstGeom>
        </p:spPr>
      </p:pic>
      <p:sp>
        <p:nvSpPr>
          <p:cNvPr id="27" name="TextBox 42">
            <a:extLst>
              <a:ext uri="{FF2B5EF4-FFF2-40B4-BE49-F238E27FC236}">
                <a16:creationId xmlns:a16="http://schemas.microsoft.com/office/drawing/2014/main" id="{A85C415F-A30D-67DC-E491-69F644724B03}"/>
              </a:ext>
            </a:extLst>
          </p:cNvPr>
          <p:cNvSpPr txBox="1"/>
          <p:nvPr/>
        </p:nvSpPr>
        <p:spPr>
          <a:xfrm>
            <a:off x="9437833" y="1582337"/>
            <a:ext cx="54053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Make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Figure</a:t>
            </a:r>
            <a:endParaRPr lang="nl-BE" sz="1100" dirty="0">
              <a:solidFill>
                <a:schemeClr val="bg1"/>
              </a:solidFill>
            </a:endParaRPr>
          </a:p>
        </p:txBody>
      </p:sp>
      <p:cxnSp>
        <p:nvCxnSpPr>
          <p:cNvPr id="32" name="Straight Arrow Connector 46">
            <a:extLst>
              <a:ext uri="{FF2B5EF4-FFF2-40B4-BE49-F238E27FC236}">
                <a16:creationId xmlns:a16="http://schemas.microsoft.com/office/drawing/2014/main" id="{58355587-E15F-1019-41D0-DD485BC73B7A}"/>
              </a:ext>
            </a:extLst>
          </p:cNvPr>
          <p:cNvCxnSpPr>
            <a:cxnSpLocks/>
          </p:cNvCxnSpPr>
          <p:nvPr/>
        </p:nvCxnSpPr>
        <p:spPr>
          <a:xfrm>
            <a:off x="10313574" y="1968500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86">
            <a:extLst>
              <a:ext uri="{FF2B5EF4-FFF2-40B4-BE49-F238E27FC236}">
                <a16:creationId xmlns:a16="http://schemas.microsoft.com/office/drawing/2014/main" id="{7E8EA08F-F511-3108-E391-205DECB0F2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6502" y="2506573"/>
            <a:ext cx="508808" cy="562533"/>
          </a:xfrm>
          <a:prstGeom prst="rect">
            <a:avLst/>
          </a:prstGeom>
        </p:spPr>
      </p:pic>
      <p:sp>
        <p:nvSpPr>
          <p:cNvPr id="36" name="TextBox 4">
            <a:extLst>
              <a:ext uri="{FF2B5EF4-FFF2-40B4-BE49-F238E27FC236}">
                <a16:creationId xmlns:a16="http://schemas.microsoft.com/office/drawing/2014/main" id="{3E4E1008-E432-9F68-5328-F601E8697D78}"/>
              </a:ext>
            </a:extLst>
          </p:cNvPr>
          <p:cNvSpPr txBox="1"/>
          <p:nvPr/>
        </p:nvSpPr>
        <p:spPr>
          <a:xfrm>
            <a:off x="881222" y="1422783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40" name="TextBox 4">
            <a:extLst>
              <a:ext uri="{FF2B5EF4-FFF2-40B4-BE49-F238E27FC236}">
                <a16:creationId xmlns:a16="http://schemas.microsoft.com/office/drawing/2014/main" id="{40E7755C-6E36-47B2-1628-58F8FA7C70DC}"/>
              </a:ext>
            </a:extLst>
          </p:cNvPr>
          <p:cNvSpPr txBox="1"/>
          <p:nvPr/>
        </p:nvSpPr>
        <p:spPr>
          <a:xfrm>
            <a:off x="241633" y="5030915"/>
            <a:ext cx="1146583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600" b="1" dirty="0" err="1"/>
              <a:t>Simplified</a:t>
            </a:r>
            <a:r>
              <a:rPr lang="nl-BE" sz="1600" b="1" dirty="0"/>
              <a:t> </a:t>
            </a:r>
            <a:r>
              <a:rPr lang="nl-BE" sz="1600" b="1" dirty="0" err="1"/>
              <a:t>operation</a:t>
            </a:r>
            <a:r>
              <a:rPr lang="nl-BE" sz="1600" b="1" dirty="0"/>
              <a:t> on images:</a:t>
            </a:r>
          </a:p>
          <a:p>
            <a:endParaRPr lang="nl-BE" sz="1600" dirty="0"/>
          </a:p>
          <a:p>
            <a:r>
              <a:rPr lang="nl-BE" sz="1600" dirty="0"/>
              <a:t>Preprocessing </a:t>
            </a:r>
            <a:r>
              <a:rPr lang="nl-BE" sz="1600" dirty="0">
                <a:sym typeface="Wingdings" panose="05000000000000000000" pitchFamily="2" charset="2"/>
              </a:rPr>
              <a:t> </a:t>
            </a:r>
            <a:r>
              <a:rPr lang="nl-BE" sz="1600" dirty="0" err="1">
                <a:sym typeface="Wingdings" panose="05000000000000000000" pitchFamily="2" charset="2"/>
              </a:rPr>
              <a:t>autothreshold</a:t>
            </a:r>
            <a:r>
              <a:rPr lang="nl-BE" sz="1600" dirty="0">
                <a:sym typeface="Wingdings" panose="05000000000000000000" pitchFamily="2" charset="2"/>
              </a:rPr>
              <a:t> (</a:t>
            </a:r>
            <a:r>
              <a:rPr lang="nl-BE" sz="1600" dirty="0" err="1">
                <a:sym typeface="Wingdings" panose="05000000000000000000" pitchFamily="2" charset="2"/>
              </a:rPr>
              <a:t>traingle</a:t>
            </a:r>
            <a:r>
              <a:rPr lang="nl-BE" sz="1600" dirty="0">
                <a:sym typeface="Wingdings" panose="05000000000000000000" pitchFamily="2" charset="2"/>
              </a:rPr>
              <a:t>)  </a:t>
            </a:r>
            <a:r>
              <a:rPr lang="nl-BE" sz="1600" dirty="0" err="1">
                <a:sym typeface="Wingdings" panose="05000000000000000000" pitchFamily="2" charset="2"/>
              </a:rPr>
              <a:t>calculate</a:t>
            </a:r>
            <a:r>
              <a:rPr lang="nl-BE" sz="1600" dirty="0">
                <a:sym typeface="Wingdings" panose="05000000000000000000" pitchFamily="2" charset="2"/>
              </a:rPr>
              <a:t> overlap (</a:t>
            </a:r>
            <a:r>
              <a:rPr lang="nl-BE" sz="1600" dirty="0" err="1">
                <a:sym typeface="Wingdings" panose="05000000000000000000" pitchFamily="2" charset="2"/>
              </a:rPr>
              <a:t>with</a:t>
            </a:r>
            <a:r>
              <a:rPr lang="nl-BE" sz="1600" dirty="0">
                <a:sym typeface="Wingdings" panose="05000000000000000000" pitchFamily="2" charset="2"/>
              </a:rPr>
              <a:t> </a:t>
            </a:r>
            <a:r>
              <a:rPr lang="nl-BE" sz="1600" dirty="0" err="1">
                <a:sym typeface="Wingdings" panose="05000000000000000000" pitchFamily="2" charset="2"/>
              </a:rPr>
              <a:t>internal</a:t>
            </a:r>
            <a:r>
              <a:rPr lang="nl-BE" sz="1600" dirty="0">
                <a:sym typeface="Wingdings" panose="05000000000000000000" pitchFamily="2" charset="2"/>
              </a:rPr>
              <a:t> </a:t>
            </a:r>
            <a:r>
              <a:rPr lang="nl-BE" sz="1600" dirty="0" err="1">
                <a:sym typeface="Wingdings" panose="05000000000000000000" pitchFamily="2" charset="2"/>
              </a:rPr>
              <a:t>rotated</a:t>
            </a:r>
            <a:r>
              <a:rPr lang="nl-BE" sz="1600" dirty="0">
                <a:sym typeface="Wingdings" panose="05000000000000000000" pitchFamily="2" charset="2"/>
              </a:rPr>
              <a:t> </a:t>
            </a:r>
            <a:r>
              <a:rPr lang="nl-BE" sz="1600" dirty="0" err="1">
                <a:sym typeface="Wingdings" panose="05000000000000000000" pitchFamily="2" charset="2"/>
              </a:rPr>
              <a:t>cntrl</a:t>
            </a:r>
            <a:r>
              <a:rPr lang="nl-BE" sz="1600" dirty="0">
                <a:sym typeface="Wingdings" panose="05000000000000000000" pitchFamily="2" charset="2"/>
              </a:rPr>
              <a:t>)  </a:t>
            </a:r>
            <a:r>
              <a:rPr lang="nl-BE" sz="1600" dirty="0" err="1">
                <a:sym typeface="Wingdings" panose="05000000000000000000" pitchFamily="2" charset="2"/>
              </a:rPr>
              <a:t>calculate</a:t>
            </a:r>
            <a:r>
              <a:rPr lang="nl-BE" sz="1600" dirty="0">
                <a:sym typeface="Wingdings" panose="05000000000000000000" pitchFamily="2" charset="2"/>
              </a:rPr>
              <a:t> </a:t>
            </a:r>
            <a:r>
              <a:rPr lang="nl-BE" sz="1600" dirty="0" err="1">
                <a:sym typeface="Wingdings" panose="05000000000000000000" pitchFamily="2" charset="2"/>
              </a:rPr>
              <a:t>mean</a:t>
            </a:r>
            <a:r>
              <a:rPr lang="nl-BE" sz="1600" dirty="0">
                <a:sym typeface="Wingdings" panose="05000000000000000000" pitchFamily="2" charset="2"/>
              </a:rPr>
              <a:t> overlap  </a:t>
            </a:r>
            <a:r>
              <a:rPr lang="nl-BE" sz="1600" dirty="0" err="1">
                <a:sym typeface="Wingdings" panose="05000000000000000000" pitchFamily="2" charset="2"/>
              </a:rPr>
              <a:t>apply</a:t>
            </a:r>
            <a:r>
              <a:rPr lang="nl-BE" sz="1600" dirty="0">
                <a:sym typeface="Wingdings" panose="05000000000000000000" pitchFamily="2" charset="2"/>
              </a:rPr>
              <a:t> </a:t>
            </a:r>
            <a:r>
              <a:rPr lang="nl-BE" sz="1600" dirty="0" err="1">
                <a:sym typeface="Wingdings" panose="05000000000000000000" pitchFamily="2" charset="2"/>
              </a:rPr>
              <a:t>to</a:t>
            </a:r>
            <a:r>
              <a:rPr lang="nl-BE" sz="1600" dirty="0">
                <a:sym typeface="Wingdings" panose="05000000000000000000" pitchFamily="2" charset="2"/>
              </a:rPr>
              <a:t> images</a:t>
            </a:r>
          </a:p>
          <a:p>
            <a:r>
              <a:rPr lang="nl-BE" sz="1600" dirty="0">
                <a:sym typeface="Wingdings" panose="05000000000000000000" pitchFamily="2" charset="2"/>
              </a:rPr>
              <a:t> </a:t>
            </a:r>
            <a:endParaRPr lang="nl-BE" sz="1600" dirty="0"/>
          </a:p>
        </p:txBody>
      </p:sp>
      <p:sp>
        <p:nvSpPr>
          <p:cNvPr id="46" name="TextBox 38">
            <a:extLst>
              <a:ext uri="{FF2B5EF4-FFF2-40B4-BE49-F238E27FC236}">
                <a16:creationId xmlns:a16="http://schemas.microsoft.com/office/drawing/2014/main" id="{AF33DA72-FAC9-DFD8-DF88-95C3AE1E42E8}"/>
              </a:ext>
            </a:extLst>
          </p:cNvPr>
          <p:cNvSpPr txBox="1"/>
          <p:nvPr/>
        </p:nvSpPr>
        <p:spPr>
          <a:xfrm>
            <a:off x="8504226" y="1114046"/>
            <a:ext cx="8290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overlap.csv</a:t>
            </a:r>
          </a:p>
        </p:txBody>
      </p:sp>
      <p:pic>
        <p:nvPicPr>
          <p:cNvPr id="48" name="Picture 29">
            <a:extLst>
              <a:ext uri="{FF2B5EF4-FFF2-40B4-BE49-F238E27FC236}">
                <a16:creationId xmlns:a16="http://schemas.microsoft.com/office/drawing/2014/main" id="{2074E591-3242-B29F-E912-F6EC6C1AC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761" y="1389986"/>
            <a:ext cx="524004" cy="56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025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vak 1">
            <a:extLst>
              <a:ext uri="{FF2B5EF4-FFF2-40B4-BE49-F238E27FC236}">
                <a16:creationId xmlns:a16="http://schemas.microsoft.com/office/drawing/2014/main" id="{9B03F2DF-DABD-C7EA-F2CB-4522E3430A90}"/>
              </a:ext>
            </a:extLst>
          </p:cNvPr>
          <p:cNvSpPr txBox="1"/>
          <p:nvPr/>
        </p:nvSpPr>
        <p:spPr>
          <a:xfrm>
            <a:off x="337335" y="46615"/>
            <a:ext cx="1915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Simplified </a:t>
            </a:r>
          </a:p>
          <a:p>
            <a:pPr algn="ctr"/>
            <a:r>
              <a:rPr lang="en-US" b="1" dirty="0"/>
              <a:t>surrogate pipeline</a:t>
            </a:r>
            <a:endParaRPr lang="nl-NL" b="1" dirty="0"/>
          </a:p>
        </p:txBody>
      </p:sp>
      <p:pic>
        <p:nvPicPr>
          <p:cNvPr id="4" name="Afbeelding 3" descr="Afbeelding met tekst, schermopname, diagram, lijn&#10;&#10;Automatisch gegenereerde beschrijving">
            <a:extLst>
              <a:ext uri="{FF2B5EF4-FFF2-40B4-BE49-F238E27FC236}">
                <a16:creationId xmlns:a16="http://schemas.microsoft.com/office/drawing/2014/main" id="{DFF26D52-2F21-86C0-1B99-C47FB400AE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630" y="821480"/>
            <a:ext cx="5852172" cy="4389129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85B865E3-7F41-BE2D-4D9B-53D53E975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31" y="2125476"/>
            <a:ext cx="4130615" cy="2885281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D444019B-BBD1-530D-4493-98BFF6F9DD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31" y="1283109"/>
            <a:ext cx="2522040" cy="252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68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5483</TotalTime>
  <Words>472</Words>
  <Application>Microsoft Office PowerPoint</Application>
  <PresentationFormat>Breedbeeld</PresentationFormat>
  <Paragraphs>124</Paragraphs>
  <Slides>5</Slides>
  <Notes>0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Cydric Geyskens</dc:creator>
  <cp:lastModifiedBy>Cydric Geyskens</cp:lastModifiedBy>
  <cp:revision>89</cp:revision>
  <dcterms:created xsi:type="dcterms:W3CDTF">2023-06-26T13:04:35Z</dcterms:created>
  <dcterms:modified xsi:type="dcterms:W3CDTF">2023-08-25T16:25:24Z</dcterms:modified>
</cp:coreProperties>
</file>