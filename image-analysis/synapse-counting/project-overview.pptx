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7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143C-C765-4578-971F-46391B4C2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71CBF-08F6-4743-9EA1-A2E136CDA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D4935-966B-48C4-A716-3A0C88FD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519B5-5B66-4905-8633-A5B3DECB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1DB69-5547-4575-8158-18CB2622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745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5097-4398-4F13-BDDD-D2F514BB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8E435-5EA6-4D2A-9449-7A1AA360F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38F46-F97C-4A3A-A079-418CFA3F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25D03-5EE1-40CC-B6AB-4429EE18D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CE509-DF51-4206-A82F-EE60CA4D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88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072D-2E40-4A0E-AD38-67FC78D6D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EB985-AE9E-485D-AEE1-A8584EFD1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4526F-3831-4785-B677-B835FBD4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EE188-6524-48E3-9D2B-C402186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D3C34-BE83-41AF-8854-E5A0984B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46573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CF79-610A-4B73-849C-4CC951B5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67E9A-C3ED-4057-92D6-4168F18FA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367F3-D4E5-4534-891A-B3A2CED80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4452D-D4C9-4F7E-8D92-AB8019B1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F817E-59F3-47DA-A42E-1C43DD46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BE1A2-767C-4202-84A0-567D0524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43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88B9-B1A2-4300-92E9-E76FB6A51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F63AA-0BFA-4B03-B328-5F918DE34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9DC4B-5123-4EC1-86D7-C83B5C52C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38DC5-88A9-4DA4-93BE-C2CC2A196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2AF2C4-F5C9-4746-8197-EA5C8AB2F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B9342-1503-4D73-85C0-227272CEB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F31051-D9A5-4D0F-AA17-A9D391B2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09CD7-E95B-46AB-9AAA-D1BA8CC3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14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CED-C24C-4163-9E0B-2DE007FD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AFD69-F921-4AA4-9BF4-A826A1E7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F2AB2-A977-44A2-B3A7-7A570AD4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028FF-1024-4531-80F5-CE71BDAE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9630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C7ABA-E69E-464A-B2EC-9D321C4A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DB298-A6D9-461E-8948-9A1B247E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742E9-13D0-49B5-90F8-0108A6C5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7335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700F-973C-41D2-BAF7-92AFA7E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8FF07-38D7-4B53-B3A6-157676D77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6CFCC-87ED-4A17-959E-20B0F6F2C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3E843-F1A0-414A-B00C-B3A53F14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8F7B0-351D-4761-AEDA-F770744B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DDE15-1919-443A-AC92-CD38E279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0761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62F6-4A05-4397-8A06-C5335FE5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7B2EE-3340-4042-AFE6-17C88681E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A5DA3-87B3-4890-8965-4FD472DED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8F955-F550-456F-B87A-49C3EAF4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29F32-1E3A-4A97-B74C-FB7FA5A5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A4B0D-D7CD-472C-BDE5-28FF18C9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91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BC6B-CF9C-4D27-BB24-F83BB56D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53CEB-B292-42FE-8AD7-CB748ACA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5F771-28DE-49BB-9DCB-B31B67CF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C787D-9310-4453-92E1-C2135AC27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0B72C-564D-4C87-9E05-20D41181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99643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CC8A0B-8DE3-41F4-B966-151EE2E3C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8A3EB-3C47-4144-8A17-6EF6136B7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4124D-E9BE-4E1E-9378-D423DB2C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C01E7-9A6C-4D57-8E92-B1D9FCF6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D968A-BB35-4A4C-B574-2122CEAB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973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C657E-FD46-43AC-A0B3-E7BDD946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D5A25-785C-457B-8439-BAC6FDAA7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835C4-64FC-4870-BBCE-FDDF19620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1DFA4-C744-40DA-B848-2124ADC83FCF}" type="datetimeFigureOut">
              <a:rPr lang="nl-BE" smtClean="0"/>
              <a:t>23/08/2023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E0B29-BCC0-417D-833D-551199111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3130-E279-4F34-A966-9D7C9E29B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02ADD-2B0A-4DBB-836D-121F82628F2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995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83348C-6A41-4EAC-AD4E-64A8C8A14D26}"/>
              </a:ext>
            </a:extLst>
          </p:cNvPr>
          <p:cNvSpPr txBox="1"/>
          <p:nvPr/>
        </p:nvSpPr>
        <p:spPr>
          <a:xfrm>
            <a:off x="0" y="0"/>
            <a:ext cx="3572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 err="1"/>
              <a:t>Experimental</a:t>
            </a:r>
            <a:r>
              <a:rPr lang="nl-BE" b="1" dirty="0"/>
              <a:t> set-up: CRISPR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D79A3-13FE-4DB3-9E28-F8EA295C5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50" y="1542741"/>
            <a:ext cx="557593" cy="95107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6895B7-5C37-4632-8F16-CC37FBC1641A}"/>
              </a:ext>
            </a:extLst>
          </p:cNvPr>
          <p:cNvCxnSpPr>
            <a:cxnSpLocks/>
          </p:cNvCxnSpPr>
          <p:nvPr/>
        </p:nvCxnSpPr>
        <p:spPr>
          <a:xfrm>
            <a:off x="1312223" y="1086592"/>
            <a:ext cx="52132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574D5DA-12C5-48FA-99B4-7AB62225D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63" y="2254803"/>
            <a:ext cx="1895332" cy="136618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3CBC46-E754-4AED-9DAA-2800D04B5333}"/>
              </a:ext>
            </a:extLst>
          </p:cNvPr>
          <p:cNvCxnSpPr/>
          <p:nvPr/>
        </p:nvCxnSpPr>
        <p:spPr>
          <a:xfrm>
            <a:off x="1858488" y="932213"/>
            <a:ext cx="0" cy="362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B7522FA-97FE-4A93-9B4C-492AB6A3A1E2}"/>
              </a:ext>
            </a:extLst>
          </p:cNvPr>
          <p:cNvSpPr txBox="1"/>
          <p:nvPr/>
        </p:nvSpPr>
        <p:spPr>
          <a:xfrm>
            <a:off x="1673982" y="624436"/>
            <a:ext cx="369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/>
              <a:t>P2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BCEC7E-AAC7-45DC-A30F-17191E71268A}"/>
              </a:ext>
            </a:extLst>
          </p:cNvPr>
          <p:cNvSpPr txBox="1"/>
          <p:nvPr/>
        </p:nvSpPr>
        <p:spPr>
          <a:xfrm>
            <a:off x="1312223" y="1294900"/>
            <a:ext cx="1192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 err="1"/>
              <a:t>Viral</a:t>
            </a:r>
            <a:r>
              <a:rPr lang="nl-BE" sz="1400" dirty="0"/>
              <a:t> </a:t>
            </a:r>
            <a:r>
              <a:rPr lang="nl-BE" sz="1400" dirty="0" err="1"/>
              <a:t>injection</a:t>
            </a:r>
            <a:endParaRPr lang="nl-BE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D5B9E5-CAC9-4FEA-8341-C32E186F243A}"/>
              </a:ext>
            </a:extLst>
          </p:cNvPr>
          <p:cNvSpPr txBox="1"/>
          <p:nvPr/>
        </p:nvSpPr>
        <p:spPr>
          <a:xfrm>
            <a:off x="5805054" y="1335446"/>
            <a:ext cx="13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 err="1"/>
              <a:t>Histology</a:t>
            </a:r>
            <a:r>
              <a:rPr lang="nl-BE" sz="1400" dirty="0"/>
              <a:t> &amp; IHC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15EDE-66B9-4A61-9377-96E00CA6DAF3}"/>
              </a:ext>
            </a:extLst>
          </p:cNvPr>
          <p:cNvSpPr txBox="1"/>
          <p:nvPr/>
        </p:nvSpPr>
        <p:spPr>
          <a:xfrm>
            <a:off x="6096000" y="624435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/>
              <a:t>P21 or P28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4479D2-72E2-4A59-946A-57ADC013B84C}"/>
              </a:ext>
            </a:extLst>
          </p:cNvPr>
          <p:cNvCxnSpPr/>
          <p:nvPr/>
        </p:nvCxnSpPr>
        <p:spPr>
          <a:xfrm>
            <a:off x="6525491" y="905493"/>
            <a:ext cx="0" cy="362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A9B30C-6E71-47A4-98A8-EAE877E483CD}"/>
              </a:ext>
            </a:extLst>
          </p:cNvPr>
          <p:cNvCxnSpPr>
            <a:cxnSpLocks/>
          </p:cNvCxnSpPr>
          <p:nvPr/>
        </p:nvCxnSpPr>
        <p:spPr>
          <a:xfrm>
            <a:off x="2236519" y="2125683"/>
            <a:ext cx="0" cy="449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9FC694-72A5-4923-8E10-6A08A27689A1}"/>
              </a:ext>
            </a:extLst>
          </p:cNvPr>
          <p:cNvSpPr txBox="1"/>
          <p:nvPr/>
        </p:nvSpPr>
        <p:spPr>
          <a:xfrm>
            <a:off x="1943009" y="1817911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 err="1"/>
              <a:t>gRNA</a:t>
            </a:r>
            <a:endParaRPr lang="nl-BE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31C029-FBA6-4666-8D91-93B65452A692}"/>
              </a:ext>
            </a:extLst>
          </p:cNvPr>
          <p:cNvSpPr txBox="1"/>
          <p:nvPr/>
        </p:nvSpPr>
        <p:spPr>
          <a:xfrm>
            <a:off x="2530029" y="1810777"/>
            <a:ext cx="7028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/>
              <a:t>control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183D738-3F18-429F-92B2-736830E36712}"/>
              </a:ext>
            </a:extLst>
          </p:cNvPr>
          <p:cNvCxnSpPr>
            <a:cxnSpLocks/>
          </p:cNvCxnSpPr>
          <p:nvPr/>
        </p:nvCxnSpPr>
        <p:spPr>
          <a:xfrm>
            <a:off x="2846119" y="2125683"/>
            <a:ext cx="0" cy="449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B0BFF42-0A75-4D6E-ABE8-31960545F512}"/>
              </a:ext>
            </a:extLst>
          </p:cNvPr>
          <p:cNvSpPr txBox="1"/>
          <p:nvPr/>
        </p:nvSpPr>
        <p:spPr>
          <a:xfrm>
            <a:off x="1162909" y="3750105"/>
            <a:ext cx="3837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/>
              <a:t>Total: </a:t>
            </a:r>
            <a:r>
              <a:rPr lang="nl-BE" sz="1400" dirty="0" err="1"/>
              <a:t>gRNAs</a:t>
            </a:r>
            <a:r>
              <a:rPr lang="nl-BE" sz="1400" dirty="0"/>
              <a:t> </a:t>
            </a:r>
            <a:r>
              <a:rPr lang="nl-BE" sz="1400" dirty="0" err="1"/>
              <a:t>for</a:t>
            </a:r>
            <a:r>
              <a:rPr lang="nl-BE" sz="1400" dirty="0"/>
              <a:t> 5 proteins (5 different </a:t>
            </a:r>
            <a:r>
              <a:rPr lang="nl-BE" sz="1400" dirty="0" err="1"/>
              <a:t>conditions</a:t>
            </a:r>
            <a:r>
              <a:rPr lang="nl-BE" sz="1400" dirty="0"/>
              <a:t>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203841-BD1B-4449-BCA1-F7A324141F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8" t="11726" r="10037" b="8024"/>
          <a:stretch/>
        </p:blipFill>
        <p:spPr>
          <a:xfrm rot="5400000">
            <a:off x="6656365" y="3309349"/>
            <a:ext cx="2007315" cy="422673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2F1919-E563-4E7B-BB5A-3EFD33427E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9" t="11438" r="12094" b="8743"/>
          <a:stretch/>
        </p:blipFill>
        <p:spPr>
          <a:xfrm rot="5400000">
            <a:off x="6701071" y="1217100"/>
            <a:ext cx="1917904" cy="422673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5E5A528-0498-4B67-B363-45F36006374F}"/>
              </a:ext>
            </a:extLst>
          </p:cNvPr>
          <p:cNvSpPr txBox="1"/>
          <p:nvPr/>
        </p:nvSpPr>
        <p:spPr>
          <a:xfrm>
            <a:off x="5546654" y="2348791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bg1"/>
                </a:solidFill>
              </a:rPr>
              <a:t>PSD95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9EE9F7-57FF-49AF-851A-B7C504809F5C}"/>
              </a:ext>
            </a:extLst>
          </p:cNvPr>
          <p:cNvSpPr txBox="1"/>
          <p:nvPr/>
        </p:nvSpPr>
        <p:spPr>
          <a:xfrm>
            <a:off x="5546654" y="4393246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bg1"/>
                </a:solidFill>
              </a:rPr>
              <a:t>Vlgut1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986C3C-58AE-4706-8BA2-6D988AF7BF13}"/>
              </a:ext>
            </a:extLst>
          </p:cNvPr>
          <p:cNvSpPr/>
          <p:nvPr/>
        </p:nvSpPr>
        <p:spPr>
          <a:xfrm>
            <a:off x="7321137" y="2434395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B363A7-4B45-4402-AA05-A31B2CC464F5}"/>
              </a:ext>
            </a:extLst>
          </p:cNvPr>
          <p:cNvSpPr/>
          <p:nvPr/>
        </p:nvSpPr>
        <p:spPr>
          <a:xfrm>
            <a:off x="7321136" y="2735727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CDFD94-41B5-49CC-A398-3CB8AA6739C8}"/>
              </a:ext>
            </a:extLst>
          </p:cNvPr>
          <p:cNvSpPr/>
          <p:nvPr/>
        </p:nvSpPr>
        <p:spPr>
          <a:xfrm>
            <a:off x="7321135" y="3001925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631F27-E57D-418F-9D88-538227B7E938}"/>
              </a:ext>
            </a:extLst>
          </p:cNvPr>
          <p:cNvSpPr/>
          <p:nvPr/>
        </p:nvSpPr>
        <p:spPr>
          <a:xfrm>
            <a:off x="7660022" y="3222342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F9D8D1-51D1-4666-B17E-BCF9AAEFA90B}"/>
              </a:ext>
            </a:extLst>
          </p:cNvPr>
          <p:cNvSpPr/>
          <p:nvPr/>
        </p:nvSpPr>
        <p:spPr>
          <a:xfrm>
            <a:off x="7535331" y="3855655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4C6887-F304-40BE-9A29-0F4E850F0E3B}"/>
              </a:ext>
            </a:extLst>
          </p:cNvPr>
          <p:cNvSpPr/>
          <p:nvPr/>
        </p:nvSpPr>
        <p:spPr>
          <a:xfrm>
            <a:off x="7722367" y="3527416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33E34E-1D74-4A85-AD6C-CA677AB9791D}"/>
              </a:ext>
            </a:extLst>
          </p:cNvPr>
          <p:cNvSpPr/>
          <p:nvPr/>
        </p:nvSpPr>
        <p:spPr>
          <a:xfrm>
            <a:off x="9507869" y="3781751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6E8609-D7AE-4419-A8BC-E5BB4C6CBC42}"/>
              </a:ext>
            </a:extLst>
          </p:cNvPr>
          <p:cNvSpPr/>
          <p:nvPr/>
        </p:nvSpPr>
        <p:spPr>
          <a:xfrm>
            <a:off x="9242347" y="3657060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14855C-6E22-4F64-9C7C-CF2739A7719F}"/>
              </a:ext>
            </a:extLst>
          </p:cNvPr>
          <p:cNvSpPr/>
          <p:nvPr/>
        </p:nvSpPr>
        <p:spPr>
          <a:xfrm>
            <a:off x="8931609" y="3550182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7396F9-D6B0-40C7-914F-EC3C51E65458}"/>
              </a:ext>
            </a:extLst>
          </p:cNvPr>
          <p:cNvSpPr/>
          <p:nvPr/>
        </p:nvSpPr>
        <p:spPr>
          <a:xfrm>
            <a:off x="8620871" y="3430444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7B8F91-A060-4417-AF7B-B071CC774E5A}"/>
              </a:ext>
            </a:extLst>
          </p:cNvPr>
          <p:cNvSpPr/>
          <p:nvPr/>
        </p:nvSpPr>
        <p:spPr>
          <a:xfrm>
            <a:off x="7258791" y="4540289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4DE2F0-7F76-4B16-A09F-B6CD2455DF03}"/>
              </a:ext>
            </a:extLst>
          </p:cNvPr>
          <p:cNvSpPr/>
          <p:nvPr/>
        </p:nvSpPr>
        <p:spPr>
          <a:xfrm>
            <a:off x="7258790" y="4841621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E981CE-BBFC-4738-898B-F9B92AED140B}"/>
              </a:ext>
            </a:extLst>
          </p:cNvPr>
          <p:cNvSpPr/>
          <p:nvPr/>
        </p:nvSpPr>
        <p:spPr>
          <a:xfrm>
            <a:off x="7258789" y="5107819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66A646-F3FC-429C-A03C-2D185579E9A0}"/>
              </a:ext>
            </a:extLst>
          </p:cNvPr>
          <p:cNvSpPr/>
          <p:nvPr/>
        </p:nvSpPr>
        <p:spPr>
          <a:xfrm>
            <a:off x="7597676" y="5328236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D50A26-4795-4D4E-A43E-759265E5E2EC}"/>
              </a:ext>
            </a:extLst>
          </p:cNvPr>
          <p:cNvSpPr/>
          <p:nvPr/>
        </p:nvSpPr>
        <p:spPr>
          <a:xfrm>
            <a:off x="7472985" y="5961549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EE3441-DC36-49CF-AD90-804A21200221}"/>
              </a:ext>
            </a:extLst>
          </p:cNvPr>
          <p:cNvSpPr/>
          <p:nvPr/>
        </p:nvSpPr>
        <p:spPr>
          <a:xfrm>
            <a:off x="7660021" y="5633310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9CC044A-5ED4-4FF4-A97E-FE4D1668F1C4}"/>
              </a:ext>
            </a:extLst>
          </p:cNvPr>
          <p:cNvSpPr/>
          <p:nvPr/>
        </p:nvSpPr>
        <p:spPr>
          <a:xfrm>
            <a:off x="9445523" y="5887645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39D03C-03C1-4501-8251-ABE3D845ED5E}"/>
              </a:ext>
            </a:extLst>
          </p:cNvPr>
          <p:cNvSpPr/>
          <p:nvPr/>
        </p:nvSpPr>
        <p:spPr>
          <a:xfrm>
            <a:off x="9180001" y="5762954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8C6445-EF94-4F03-B821-6187D170B948}"/>
              </a:ext>
            </a:extLst>
          </p:cNvPr>
          <p:cNvSpPr/>
          <p:nvPr/>
        </p:nvSpPr>
        <p:spPr>
          <a:xfrm>
            <a:off x="8869263" y="5656076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8D5D4C9-B399-4470-9902-7E7BA3EC7F3A}"/>
              </a:ext>
            </a:extLst>
          </p:cNvPr>
          <p:cNvSpPr/>
          <p:nvPr/>
        </p:nvSpPr>
        <p:spPr>
          <a:xfrm>
            <a:off x="8558525" y="5536338"/>
            <a:ext cx="124691" cy="12469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846D5E-5C74-4F81-BE42-FABEF819F1F1}"/>
              </a:ext>
            </a:extLst>
          </p:cNvPr>
          <p:cNvSpPr txBox="1"/>
          <p:nvPr/>
        </p:nvSpPr>
        <p:spPr>
          <a:xfrm>
            <a:off x="5984734" y="2046458"/>
            <a:ext cx="3225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i="1" dirty="0"/>
              <a:t>Imaging </a:t>
            </a:r>
            <a:r>
              <a:rPr lang="nl-BE" sz="1400" i="1" dirty="0" err="1"/>
              <a:t>synaptic</a:t>
            </a:r>
            <a:r>
              <a:rPr lang="nl-BE" sz="1400" i="1" dirty="0"/>
              <a:t> </a:t>
            </a:r>
            <a:r>
              <a:rPr lang="nl-BE" sz="1400" i="1" dirty="0" err="1"/>
              <a:t>layers</a:t>
            </a:r>
            <a:r>
              <a:rPr lang="nl-BE" sz="1400" i="1" dirty="0"/>
              <a:t> of </a:t>
            </a:r>
            <a:r>
              <a:rPr lang="nl-BE" sz="1400" i="1" dirty="0" err="1"/>
              <a:t>the</a:t>
            </a:r>
            <a:r>
              <a:rPr lang="nl-BE" sz="1400" i="1" dirty="0"/>
              <a:t> </a:t>
            </a:r>
            <a:r>
              <a:rPr lang="nl-BE" sz="1400" i="1" dirty="0" err="1"/>
              <a:t>hippocapus</a:t>
            </a:r>
            <a:endParaRPr lang="nl-BE" sz="1400" i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8D9B1D-27F2-4EE8-AE85-4BF1D4AF525F}"/>
              </a:ext>
            </a:extLst>
          </p:cNvPr>
          <p:cNvSpPr txBox="1"/>
          <p:nvPr/>
        </p:nvSpPr>
        <p:spPr>
          <a:xfrm>
            <a:off x="10032240" y="3121223"/>
            <a:ext cx="165295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/>
              <a:t>+ </a:t>
            </a:r>
            <a:r>
              <a:rPr lang="nl-BE" sz="1400" dirty="0" err="1"/>
              <a:t>Inhibitory</a:t>
            </a:r>
            <a:r>
              <a:rPr lang="nl-BE" sz="1400" dirty="0"/>
              <a:t> markers</a:t>
            </a:r>
          </a:p>
          <a:p>
            <a:r>
              <a:rPr lang="nl-BE" sz="1400" dirty="0"/>
              <a:t>(VGAT &amp; </a:t>
            </a:r>
            <a:r>
              <a:rPr lang="nl-BE" sz="1400" dirty="0" err="1"/>
              <a:t>Gephyrin</a:t>
            </a:r>
            <a:r>
              <a:rPr lang="nl-BE" sz="1400" dirty="0"/>
              <a:t>)</a:t>
            </a:r>
          </a:p>
          <a:p>
            <a:endParaRPr lang="nl-BE" sz="1400" dirty="0"/>
          </a:p>
          <a:p>
            <a:r>
              <a:rPr lang="nl-BE" sz="1400" dirty="0"/>
              <a:t>+ </a:t>
            </a:r>
            <a:r>
              <a:rPr lang="nl-BE" sz="1400" dirty="0" err="1"/>
              <a:t>other</a:t>
            </a:r>
            <a:r>
              <a:rPr lang="nl-BE" sz="1400" dirty="0"/>
              <a:t> markers </a:t>
            </a:r>
          </a:p>
          <a:p>
            <a:r>
              <a:rPr lang="nl-BE" sz="1400" dirty="0"/>
              <a:t>(Vglut2, SPO, … )</a:t>
            </a:r>
          </a:p>
          <a:p>
            <a:endParaRPr lang="nl-BE" sz="1400" dirty="0"/>
          </a:p>
          <a:p>
            <a:endParaRPr lang="nl-BE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DA3C10-2644-4B18-98D8-C6710C34BDB8}"/>
              </a:ext>
            </a:extLst>
          </p:cNvPr>
          <p:cNvSpPr txBox="1"/>
          <p:nvPr/>
        </p:nvSpPr>
        <p:spPr>
          <a:xfrm>
            <a:off x="333702" y="4648378"/>
            <a:ext cx="471513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400" dirty="0"/>
              <a:t>Goal of </a:t>
            </a:r>
            <a:r>
              <a:rPr lang="nl-BE" sz="1400" dirty="0" err="1"/>
              <a:t>the</a:t>
            </a:r>
            <a:r>
              <a:rPr lang="nl-BE" sz="1400" dirty="0"/>
              <a:t> image analysis: </a:t>
            </a:r>
          </a:p>
          <a:p>
            <a:pPr algn="ctr"/>
            <a:endParaRPr lang="nl-BE" sz="1400" dirty="0"/>
          </a:p>
          <a:p>
            <a:r>
              <a:rPr lang="nl-BE" sz="1400" i="1" dirty="0" err="1"/>
              <a:t>quantifying</a:t>
            </a:r>
            <a:r>
              <a:rPr lang="nl-BE" sz="1400" i="1" dirty="0"/>
              <a:t> </a:t>
            </a:r>
            <a:r>
              <a:rPr lang="nl-BE" sz="1400" i="1" dirty="0" err="1"/>
              <a:t>the</a:t>
            </a:r>
            <a:r>
              <a:rPr lang="nl-BE" sz="1400" i="1" dirty="0"/>
              <a:t> </a:t>
            </a:r>
            <a:r>
              <a:rPr lang="nl-BE" sz="1400" i="1" dirty="0" err="1"/>
              <a:t>colocalized</a:t>
            </a:r>
            <a:r>
              <a:rPr lang="nl-BE" sz="1400" i="1" dirty="0"/>
              <a:t> </a:t>
            </a:r>
            <a:r>
              <a:rPr lang="nl-BE" sz="1400" i="1" dirty="0" err="1"/>
              <a:t>synaptic</a:t>
            </a:r>
            <a:r>
              <a:rPr lang="nl-BE" sz="1400" i="1" dirty="0"/>
              <a:t> </a:t>
            </a:r>
            <a:r>
              <a:rPr lang="nl-BE" sz="1400" i="1" dirty="0" err="1"/>
              <a:t>puncta</a:t>
            </a:r>
            <a:r>
              <a:rPr lang="nl-BE" sz="1400" i="1" dirty="0"/>
              <a:t> in </a:t>
            </a:r>
            <a:r>
              <a:rPr lang="nl-BE" sz="1400" i="1" dirty="0" err="1"/>
              <a:t>gRNA</a:t>
            </a:r>
            <a:r>
              <a:rPr lang="nl-BE" sz="1400" i="1" dirty="0"/>
              <a:t> </a:t>
            </a:r>
            <a:r>
              <a:rPr lang="nl-BE" sz="1400" i="1" dirty="0" err="1"/>
              <a:t>vs</a:t>
            </a:r>
            <a:r>
              <a:rPr lang="nl-BE" sz="1400" i="1" dirty="0"/>
              <a:t> Control</a:t>
            </a:r>
          </a:p>
          <a:p>
            <a:endParaRPr lang="nl-BE" sz="1400" i="1" dirty="0"/>
          </a:p>
          <a:p>
            <a:r>
              <a:rPr lang="nl-BE" sz="1400" dirty="0"/>
              <a:t> - </a:t>
            </a:r>
            <a:r>
              <a:rPr lang="nl-BE" sz="1400" dirty="0" err="1"/>
              <a:t>with</a:t>
            </a:r>
            <a:r>
              <a:rPr lang="nl-BE" sz="1400" dirty="0"/>
              <a:t> </a:t>
            </a:r>
            <a:r>
              <a:rPr lang="nl-BE" sz="1400" dirty="0" err="1"/>
              <a:t>gRNAs</a:t>
            </a:r>
            <a:r>
              <a:rPr lang="nl-BE" sz="1400" dirty="0"/>
              <a:t> </a:t>
            </a:r>
            <a:r>
              <a:rPr lang="nl-BE" sz="1400" dirty="0" err="1"/>
              <a:t>for</a:t>
            </a:r>
            <a:r>
              <a:rPr lang="nl-BE" sz="1400" dirty="0"/>
              <a:t> 5 different proteins</a:t>
            </a:r>
          </a:p>
          <a:p>
            <a:r>
              <a:rPr lang="nl-BE" sz="1400" dirty="0"/>
              <a:t> - in different </a:t>
            </a:r>
            <a:r>
              <a:rPr lang="nl-BE" sz="1400" dirty="0" err="1"/>
              <a:t>synaptic</a:t>
            </a:r>
            <a:r>
              <a:rPr lang="nl-BE" sz="1400" dirty="0"/>
              <a:t> </a:t>
            </a:r>
            <a:r>
              <a:rPr lang="nl-BE" sz="1400" dirty="0" err="1"/>
              <a:t>layers</a:t>
            </a:r>
            <a:r>
              <a:rPr lang="nl-BE" sz="1400" dirty="0"/>
              <a:t> of </a:t>
            </a:r>
            <a:r>
              <a:rPr lang="nl-BE" sz="1400" dirty="0" err="1"/>
              <a:t>the</a:t>
            </a:r>
            <a:r>
              <a:rPr lang="nl-BE" sz="1400" dirty="0"/>
              <a:t> hippocampus</a:t>
            </a:r>
          </a:p>
          <a:p>
            <a:r>
              <a:rPr lang="nl-BE" sz="1400" dirty="0"/>
              <a:t> - </a:t>
            </a:r>
            <a:r>
              <a:rPr lang="nl-BE" sz="1400" dirty="0" err="1"/>
              <a:t>with</a:t>
            </a:r>
            <a:r>
              <a:rPr lang="nl-BE" sz="1400" dirty="0"/>
              <a:t> different </a:t>
            </a:r>
            <a:r>
              <a:rPr lang="nl-BE" sz="1400" dirty="0" err="1"/>
              <a:t>synaptic</a:t>
            </a:r>
            <a:r>
              <a:rPr lang="nl-BE" sz="1400" dirty="0"/>
              <a:t> markers</a:t>
            </a:r>
          </a:p>
          <a:p>
            <a:r>
              <a:rPr lang="nl-BE" sz="1400" dirty="0"/>
              <a:t>- </a:t>
            </a:r>
            <a:r>
              <a:rPr lang="nl-BE" sz="1400" dirty="0" err="1"/>
              <a:t>with</a:t>
            </a:r>
            <a:r>
              <a:rPr lang="nl-BE" sz="1400" dirty="0"/>
              <a:t> different analyses: </a:t>
            </a:r>
            <a:r>
              <a:rPr lang="nl-BE" sz="1400" dirty="0" err="1"/>
              <a:t>coloc</a:t>
            </a:r>
            <a:r>
              <a:rPr lang="nl-BE" sz="1400" dirty="0"/>
              <a:t>, overlap, </a:t>
            </a:r>
            <a:r>
              <a:rPr lang="nl-BE" sz="1400" dirty="0" err="1"/>
              <a:t>mfi</a:t>
            </a:r>
            <a:r>
              <a:rPr lang="nl-BE" sz="1400" dirty="0"/>
              <a:t>, </a:t>
            </a:r>
            <a:r>
              <a:rPr lang="nl-BE" sz="1400" dirty="0" err="1"/>
              <a:t>pearsons</a:t>
            </a:r>
            <a:r>
              <a:rPr lang="nl-BE" sz="1400" dirty="0"/>
              <a:t>, …</a:t>
            </a:r>
          </a:p>
          <a:p>
            <a:endParaRPr lang="nl-BE" sz="1400" dirty="0"/>
          </a:p>
          <a:p>
            <a:endParaRPr lang="nl-BE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69922-8AB6-4B5E-9616-95A5F254D149}"/>
              </a:ext>
            </a:extLst>
          </p:cNvPr>
          <p:cNvSpPr txBox="1"/>
          <p:nvPr/>
        </p:nvSpPr>
        <p:spPr>
          <a:xfrm>
            <a:off x="6484878" y="2472257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bg1"/>
                </a:solidFill>
              </a:rPr>
              <a:t>CA1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8E9BE7-387E-4DA8-BED2-F1E4EF90905D}"/>
              </a:ext>
            </a:extLst>
          </p:cNvPr>
          <p:cNvSpPr txBox="1"/>
          <p:nvPr/>
        </p:nvSpPr>
        <p:spPr>
          <a:xfrm>
            <a:off x="9199070" y="3182488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bg1"/>
                </a:solidFill>
              </a:rPr>
              <a:t>CA3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C6BEFF-8D59-45F3-83AF-508D0A597A73}"/>
              </a:ext>
            </a:extLst>
          </p:cNvPr>
          <p:cNvSpPr txBox="1"/>
          <p:nvPr/>
        </p:nvSpPr>
        <p:spPr>
          <a:xfrm>
            <a:off x="6638327" y="3449462"/>
            <a:ext cx="409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bg1"/>
                </a:solidFill>
              </a:rPr>
              <a:t>DG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24ACFD-2172-46EF-B188-E574878BFC2A}"/>
              </a:ext>
            </a:extLst>
          </p:cNvPr>
          <p:cNvSpPr txBox="1"/>
          <p:nvPr/>
        </p:nvSpPr>
        <p:spPr>
          <a:xfrm>
            <a:off x="6480385" y="4658434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bg1"/>
                </a:solidFill>
              </a:rPr>
              <a:t>CA1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C468F0-E692-4C44-AE5C-6FE1356143BE}"/>
              </a:ext>
            </a:extLst>
          </p:cNvPr>
          <p:cNvSpPr txBox="1"/>
          <p:nvPr/>
        </p:nvSpPr>
        <p:spPr>
          <a:xfrm>
            <a:off x="9194577" y="5368665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bg1"/>
                </a:solidFill>
              </a:rPr>
              <a:t>CA3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BD9383-ECDF-4E10-88CD-3C90EC9541BC}"/>
              </a:ext>
            </a:extLst>
          </p:cNvPr>
          <p:cNvSpPr txBox="1"/>
          <p:nvPr/>
        </p:nvSpPr>
        <p:spPr>
          <a:xfrm>
            <a:off x="6633834" y="5635639"/>
            <a:ext cx="409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bg1"/>
                </a:solidFill>
              </a:rPr>
              <a:t>DG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A15B40-1A12-4175-B023-618D26E7C4A6}"/>
              </a:ext>
            </a:extLst>
          </p:cNvPr>
          <p:cNvSpPr/>
          <p:nvPr/>
        </p:nvSpPr>
        <p:spPr>
          <a:xfrm>
            <a:off x="186489" y="4602634"/>
            <a:ext cx="5021276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900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4E8F1B-25B7-4CF7-B895-2618CEC7A7BC}"/>
              </a:ext>
            </a:extLst>
          </p:cNvPr>
          <p:cNvSpPr txBox="1"/>
          <p:nvPr/>
        </p:nvSpPr>
        <p:spPr>
          <a:xfrm>
            <a:off x="0" y="0"/>
            <a:ext cx="2397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b="1" dirty="0"/>
              <a:t>Image analysis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725F0A-DEA9-4D70-85FB-1609D267FEBE}"/>
              </a:ext>
            </a:extLst>
          </p:cNvPr>
          <p:cNvSpPr/>
          <p:nvPr/>
        </p:nvSpPr>
        <p:spPr>
          <a:xfrm>
            <a:off x="3980349" y="632554"/>
            <a:ext cx="3364539" cy="6488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B625C-882D-4A3E-A730-251C5E01D478}"/>
              </a:ext>
            </a:extLst>
          </p:cNvPr>
          <p:cNvSpPr txBox="1"/>
          <p:nvPr/>
        </p:nvSpPr>
        <p:spPr>
          <a:xfrm>
            <a:off x="3980349" y="592800"/>
            <a:ext cx="33860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dirty="0"/>
              <a:t>Script1: </a:t>
            </a:r>
            <a:r>
              <a:rPr lang="nl-BE" sz="1400" dirty="0" err="1"/>
              <a:t>getting</a:t>
            </a:r>
            <a:r>
              <a:rPr lang="nl-BE" sz="1400" dirty="0"/>
              <a:t> </a:t>
            </a:r>
            <a:r>
              <a:rPr lang="nl-BE" sz="1400" dirty="0" err="1"/>
              <a:t>optimal</a:t>
            </a:r>
            <a:r>
              <a:rPr lang="nl-BE" sz="1400" dirty="0"/>
              <a:t> parameters</a:t>
            </a:r>
          </a:p>
          <a:p>
            <a:r>
              <a:rPr lang="nl-BE" sz="1400" dirty="0" err="1"/>
              <a:t>for</a:t>
            </a:r>
            <a:r>
              <a:rPr lang="nl-BE" sz="1400" dirty="0"/>
              <a:t> </a:t>
            </a:r>
            <a:r>
              <a:rPr lang="nl-BE" sz="1400" dirty="0" err="1"/>
              <a:t>each</a:t>
            </a:r>
            <a:r>
              <a:rPr lang="nl-BE" sz="1400" dirty="0"/>
              <a:t> VGLUT1-PSD95 image </a:t>
            </a:r>
            <a:r>
              <a:rPr lang="nl-BE" sz="1400" dirty="0" err="1"/>
              <a:t>within</a:t>
            </a:r>
            <a:r>
              <a:rPr lang="nl-BE" sz="1400" dirty="0"/>
              <a:t> </a:t>
            </a:r>
          </a:p>
          <a:p>
            <a:r>
              <a:rPr lang="nl-BE" sz="1400" dirty="0" err="1"/>
              <a:t>an</a:t>
            </a:r>
            <a:r>
              <a:rPr lang="nl-BE" sz="1400" dirty="0"/>
              <a:t> </a:t>
            </a:r>
            <a:r>
              <a:rPr lang="nl-BE" sz="1400" dirty="0" err="1"/>
              <a:t>experimental</a:t>
            </a:r>
            <a:r>
              <a:rPr lang="nl-BE" sz="1400" dirty="0"/>
              <a:t> batch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664FC-EFE2-4BC8-8726-7D378DF5A87E}"/>
              </a:ext>
            </a:extLst>
          </p:cNvPr>
          <p:cNvSpPr txBox="1"/>
          <p:nvPr/>
        </p:nvSpPr>
        <p:spPr>
          <a:xfrm>
            <a:off x="4373382" y="234922"/>
            <a:ext cx="2109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u="sng" dirty="0"/>
              <a:t>Input: </a:t>
            </a:r>
            <a:r>
              <a:rPr lang="nl-BE" sz="1400" dirty="0"/>
              <a:t>high </a:t>
            </a:r>
            <a:r>
              <a:rPr lang="nl-BE" sz="1400" dirty="0" err="1"/>
              <a:t>res</a:t>
            </a:r>
            <a:r>
              <a:rPr lang="nl-BE" sz="1400" dirty="0"/>
              <a:t> images 63X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96894-4772-4B41-AD2C-AA2458D3216D}"/>
              </a:ext>
            </a:extLst>
          </p:cNvPr>
          <p:cNvSpPr txBox="1"/>
          <p:nvPr/>
        </p:nvSpPr>
        <p:spPr>
          <a:xfrm>
            <a:off x="4001860" y="1281363"/>
            <a:ext cx="4362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u="sng" dirty="0"/>
              <a:t>Output:</a:t>
            </a:r>
            <a:r>
              <a:rPr lang="nl-BE" sz="1400" dirty="0"/>
              <a:t> </a:t>
            </a:r>
            <a:r>
              <a:rPr lang="nl-BE" sz="1400" dirty="0" err="1"/>
              <a:t>csv</a:t>
            </a:r>
            <a:r>
              <a:rPr lang="nl-BE" sz="1400" dirty="0"/>
              <a:t> file </a:t>
            </a:r>
            <a:r>
              <a:rPr lang="nl-BE" sz="1400" dirty="0" err="1"/>
              <a:t>with</a:t>
            </a:r>
            <a:r>
              <a:rPr lang="nl-BE" sz="1400" dirty="0"/>
              <a:t> </a:t>
            </a:r>
            <a:r>
              <a:rPr lang="nl-BE" sz="1400" dirty="0" err="1"/>
              <a:t>optimal</a:t>
            </a:r>
            <a:r>
              <a:rPr lang="nl-BE" sz="1400" dirty="0"/>
              <a:t> parameters </a:t>
            </a:r>
            <a:r>
              <a:rPr lang="nl-BE" sz="1400" dirty="0" err="1"/>
              <a:t>for</a:t>
            </a:r>
            <a:r>
              <a:rPr lang="nl-BE" sz="1400" dirty="0"/>
              <a:t> </a:t>
            </a:r>
            <a:r>
              <a:rPr lang="nl-BE" sz="1400" dirty="0" err="1"/>
              <a:t>each</a:t>
            </a:r>
            <a:r>
              <a:rPr lang="nl-BE" sz="1400" dirty="0"/>
              <a:t> image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6BAFF0-679F-4A8E-BCCD-D5E903DE9541}"/>
              </a:ext>
            </a:extLst>
          </p:cNvPr>
          <p:cNvCxnSpPr/>
          <p:nvPr/>
        </p:nvCxnSpPr>
        <p:spPr>
          <a:xfrm>
            <a:off x="5290139" y="1589140"/>
            <a:ext cx="0" cy="474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75BDA0-7C08-4C79-BF0B-510846D45A8D}"/>
              </a:ext>
            </a:extLst>
          </p:cNvPr>
          <p:cNvSpPr/>
          <p:nvPr/>
        </p:nvSpPr>
        <p:spPr>
          <a:xfrm>
            <a:off x="4000267" y="2158899"/>
            <a:ext cx="3086333" cy="6488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6B1E8-96AC-45D3-9BE3-181E7CC7BDD0}"/>
              </a:ext>
            </a:extLst>
          </p:cNvPr>
          <p:cNvSpPr txBox="1"/>
          <p:nvPr/>
        </p:nvSpPr>
        <p:spPr>
          <a:xfrm>
            <a:off x="4000267" y="2175526"/>
            <a:ext cx="3083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/>
              <a:t>Script2: </a:t>
            </a:r>
            <a:r>
              <a:rPr lang="nl-BE" sz="1400" dirty="0" err="1"/>
              <a:t>calculate</a:t>
            </a:r>
            <a:r>
              <a:rPr lang="nl-BE" sz="1400" dirty="0"/>
              <a:t> </a:t>
            </a:r>
            <a:r>
              <a:rPr lang="nl-BE" sz="1400" dirty="0" err="1"/>
              <a:t>the</a:t>
            </a:r>
            <a:r>
              <a:rPr lang="nl-BE" sz="1400" dirty="0"/>
              <a:t> </a:t>
            </a:r>
            <a:r>
              <a:rPr lang="nl-BE" sz="1400" dirty="0" err="1"/>
              <a:t>mean</a:t>
            </a:r>
            <a:r>
              <a:rPr lang="nl-BE" sz="1400" dirty="0"/>
              <a:t> parameters </a:t>
            </a:r>
          </a:p>
          <a:p>
            <a:r>
              <a:rPr lang="nl-BE" sz="1400" dirty="0"/>
              <a:t>of </a:t>
            </a:r>
            <a:r>
              <a:rPr lang="nl-BE" sz="1400" dirty="0" err="1"/>
              <a:t>that</a:t>
            </a:r>
            <a:r>
              <a:rPr lang="nl-BE" sz="1400" dirty="0"/>
              <a:t> </a:t>
            </a:r>
            <a:r>
              <a:rPr lang="nl-BE" sz="1400" dirty="0" err="1"/>
              <a:t>experimental</a:t>
            </a:r>
            <a:r>
              <a:rPr lang="nl-BE" sz="1400" dirty="0"/>
              <a:t> batch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880C7-4273-4351-8CD3-BA96A37D395C}"/>
              </a:ext>
            </a:extLst>
          </p:cNvPr>
          <p:cNvSpPr txBox="1"/>
          <p:nvPr/>
        </p:nvSpPr>
        <p:spPr>
          <a:xfrm>
            <a:off x="3914505" y="2807708"/>
            <a:ext cx="5305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u="sng" dirty="0"/>
              <a:t>Output:</a:t>
            </a:r>
            <a:r>
              <a:rPr lang="nl-BE" sz="1400" dirty="0"/>
              <a:t> (1) </a:t>
            </a:r>
            <a:r>
              <a:rPr lang="nl-BE" sz="1400" dirty="0" err="1"/>
              <a:t>mean</a:t>
            </a:r>
            <a:r>
              <a:rPr lang="nl-BE" sz="1400" dirty="0"/>
              <a:t> parameters &amp; (2) </a:t>
            </a:r>
            <a:r>
              <a:rPr lang="nl-BE" sz="1400" dirty="0" err="1"/>
              <a:t>figure</a:t>
            </a:r>
            <a:r>
              <a:rPr lang="nl-BE" sz="1400" dirty="0"/>
              <a:t> of </a:t>
            </a:r>
            <a:r>
              <a:rPr lang="nl-BE" sz="1400" dirty="0" err="1"/>
              <a:t>binned</a:t>
            </a:r>
            <a:r>
              <a:rPr lang="nl-BE" sz="1400" dirty="0"/>
              <a:t> </a:t>
            </a:r>
            <a:r>
              <a:rPr lang="nl-BE" sz="1400" dirty="0" err="1"/>
              <a:t>mean</a:t>
            </a:r>
            <a:r>
              <a:rPr lang="nl-BE" sz="1400" dirty="0"/>
              <a:t> parameters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1F2D17-A24E-4969-B0F9-C687E823E61E}"/>
              </a:ext>
            </a:extLst>
          </p:cNvPr>
          <p:cNvSpPr/>
          <p:nvPr/>
        </p:nvSpPr>
        <p:spPr>
          <a:xfrm>
            <a:off x="4000266" y="3804048"/>
            <a:ext cx="3529739" cy="6488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1F3C0-1C44-4915-88C1-DCC201DCFC63}"/>
              </a:ext>
            </a:extLst>
          </p:cNvPr>
          <p:cNvSpPr txBox="1"/>
          <p:nvPr/>
        </p:nvSpPr>
        <p:spPr>
          <a:xfrm>
            <a:off x="4000267" y="3820675"/>
            <a:ext cx="352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/>
              <a:t>Script3: </a:t>
            </a:r>
            <a:r>
              <a:rPr lang="nl-BE" sz="1400" dirty="0" err="1"/>
              <a:t>actually</a:t>
            </a:r>
            <a:r>
              <a:rPr lang="nl-BE" sz="1400" dirty="0"/>
              <a:t> </a:t>
            </a:r>
            <a:r>
              <a:rPr lang="nl-BE" sz="1400" dirty="0" err="1"/>
              <a:t>calculating</a:t>
            </a:r>
            <a:r>
              <a:rPr lang="nl-BE" sz="1400" dirty="0"/>
              <a:t> </a:t>
            </a:r>
            <a:r>
              <a:rPr lang="nl-BE" sz="1400" dirty="0" err="1"/>
              <a:t>the</a:t>
            </a:r>
            <a:r>
              <a:rPr lang="nl-BE" sz="1400" dirty="0"/>
              <a:t> </a:t>
            </a:r>
            <a:r>
              <a:rPr lang="nl-BE" sz="1400" dirty="0" err="1"/>
              <a:t>colocalized</a:t>
            </a:r>
            <a:r>
              <a:rPr lang="nl-BE" sz="1400" dirty="0"/>
              <a:t> </a:t>
            </a:r>
          </a:p>
          <a:p>
            <a:r>
              <a:rPr lang="nl-BE" sz="1400" dirty="0" err="1"/>
              <a:t>synaptic</a:t>
            </a:r>
            <a:r>
              <a:rPr lang="nl-BE" sz="1400" dirty="0"/>
              <a:t> </a:t>
            </a:r>
            <a:r>
              <a:rPr lang="nl-BE" sz="1400" dirty="0" err="1"/>
              <a:t>puncta</a:t>
            </a:r>
            <a:r>
              <a:rPr lang="nl-BE" sz="1400" dirty="0"/>
              <a:t> </a:t>
            </a:r>
            <a:r>
              <a:rPr lang="nl-BE" sz="1400" dirty="0" err="1"/>
              <a:t>nr</a:t>
            </a:r>
            <a:r>
              <a:rPr lang="nl-BE" sz="1400" dirty="0"/>
              <a:t> </a:t>
            </a:r>
            <a:r>
              <a:rPr lang="nl-BE" sz="1400" dirty="0" err="1"/>
              <a:t>between</a:t>
            </a:r>
            <a:r>
              <a:rPr lang="nl-BE" sz="1400" dirty="0"/>
              <a:t> </a:t>
            </a:r>
            <a:r>
              <a:rPr lang="nl-BE" sz="1400" dirty="0" err="1"/>
              <a:t>gRNA</a:t>
            </a:r>
            <a:r>
              <a:rPr lang="nl-BE" sz="1400" dirty="0"/>
              <a:t> </a:t>
            </a:r>
            <a:r>
              <a:rPr lang="nl-BE" sz="1400" dirty="0" err="1"/>
              <a:t>and</a:t>
            </a:r>
            <a:r>
              <a:rPr lang="nl-BE" sz="1400" dirty="0"/>
              <a:t> control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FBD8DC-B5C4-4751-A331-8344ABB587D1}"/>
              </a:ext>
            </a:extLst>
          </p:cNvPr>
          <p:cNvCxnSpPr/>
          <p:nvPr/>
        </p:nvCxnSpPr>
        <p:spPr>
          <a:xfrm>
            <a:off x="5346287" y="3239472"/>
            <a:ext cx="0" cy="474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73F628-C71B-4A97-8137-EAA440EA2410}"/>
              </a:ext>
            </a:extLst>
          </p:cNvPr>
          <p:cNvSpPr/>
          <p:nvPr/>
        </p:nvSpPr>
        <p:spPr>
          <a:xfrm>
            <a:off x="2313357" y="397042"/>
            <a:ext cx="2715843" cy="3254542"/>
          </a:xfrm>
          <a:custGeom>
            <a:avLst/>
            <a:gdLst>
              <a:gd name="connsiteX0" fmla="*/ 1831522 w 2715843"/>
              <a:gd name="connsiteY0" fmla="*/ 0 h 3254542"/>
              <a:gd name="connsiteX1" fmla="*/ 14754 w 2715843"/>
              <a:gd name="connsiteY1" fmla="*/ 1672390 h 3254542"/>
              <a:gd name="connsiteX2" fmla="*/ 2715843 w 2715843"/>
              <a:gd name="connsiteY2" fmla="*/ 3254542 h 3254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15843" h="3254542">
                <a:moveTo>
                  <a:pt x="1831522" y="0"/>
                </a:moveTo>
                <a:cubicBezTo>
                  <a:pt x="849444" y="564983"/>
                  <a:pt x="-132633" y="1129966"/>
                  <a:pt x="14754" y="1672390"/>
                </a:cubicBezTo>
                <a:cubicBezTo>
                  <a:pt x="162141" y="2214814"/>
                  <a:pt x="1438992" y="2734678"/>
                  <a:pt x="2715843" y="3254542"/>
                </a:cubicBezTo>
              </a:path>
            </a:pathLst>
          </a:custGeom>
          <a:noFill/>
          <a:ln>
            <a:solidFill>
              <a:srgbClr val="507BC8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0D608E-6962-4233-BF12-F8DBE7C720F9}"/>
              </a:ext>
            </a:extLst>
          </p:cNvPr>
          <p:cNvSpPr txBox="1"/>
          <p:nvPr/>
        </p:nvSpPr>
        <p:spPr>
          <a:xfrm>
            <a:off x="3914505" y="4482827"/>
            <a:ext cx="33788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u="sng" dirty="0"/>
              <a:t>Output:</a:t>
            </a:r>
            <a:r>
              <a:rPr lang="nl-BE" sz="1400" dirty="0"/>
              <a:t> (1) image </a:t>
            </a:r>
            <a:r>
              <a:rPr lang="nl-BE" sz="1400" dirty="0" err="1"/>
              <a:t>with</a:t>
            </a:r>
            <a:r>
              <a:rPr lang="nl-BE" sz="1400" dirty="0"/>
              <a:t> spots &amp; (2) </a:t>
            </a:r>
            <a:r>
              <a:rPr lang="nl-BE" sz="1400" dirty="0" err="1"/>
              <a:t>figures</a:t>
            </a:r>
            <a:r>
              <a:rPr lang="nl-BE" sz="1400" dirty="0"/>
              <a:t> &amp;</a:t>
            </a:r>
          </a:p>
          <a:p>
            <a:r>
              <a:rPr lang="nl-BE" sz="1400" dirty="0"/>
              <a:t>(3) </a:t>
            </a:r>
            <a:r>
              <a:rPr lang="nl-BE" sz="1400" dirty="0" err="1"/>
              <a:t>csv</a:t>
            </a:r>
            <a:r>
              <a:rPr lang="nl-BE" sz="1400" dirty="0"/>
              <a:t> file </a:t>
            </a:r>
            <a:r>
              <a:rPr lang="nl-BE" sz="1400" dirty="0" err="1"/>
              <a:t>with</a:t>
            </a:r>
            <a:r>
              <a:rPr lang="nl-BE" sz="1400" dirty="0"/>
              <a:t> </a:t>
            </a:r>
            <a:r>
              <a:rPr lang="nl-BE" sz="1400" dirty="0" err="1"/>
              <a:t>colocalized</a:t>
            </a:r>
            <a:r>
              <a:rPr lang="nl-BE" sz="1400" dirty="0"/>
              <a:t> </a:t>
            </a:r>
            <a:r>
              <a:rPr lang="nl-BE" sz="1400" dirty="0" err="1"/>
              <a:t>puncta</a:t>
            </a:r>
            <a:endParaRPr lang="nl-BE" sz="1400" dirty="0"/>
          </a:p>
          <a:p>
            <a:endParaRPr lang="nl-BE" sz="1400" dirty="0"/>
          </a:p>
          <a:p>
            <a:endParaRPr lang="nl-BE" sz="1400" dirty="0"/>
          </a:p>
          <a:p>
            <a:endParaRPr lang="nl-BE" sz="1400" dirty="0"/>
          </a:p>
          <a:p>
            <a:endParaRPr lang="nl-BE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584416D-F00C-46A0-B79A-7DA5D7E1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7813"/>
            <a:ext cx="2184695" cy="846805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97DD68E-E636-4950-B689-AE18401B5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31430"/>
              </p:ext>
            </p:extLst>
          </p:nvPr>
        </p:nvGraphicFramePr>
        <p:xfrm>
          <a:off x="2820569" y="5245650"/>
          <a:ext cx="672556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171">
                  <a:extLst>
                    <a:ext uri="{9D8B030D-6E8A-4147-A177-3AD203B41FA5}">
                      <a16:colId xmlns:a16="http://schemas.microsoft.com/office/drawing/2014/main" val="395200260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1583358"/>
                    </a:ext>
                  </a:extLst>
                </a:gridCol>
                <a:gridCol w="2131621">
                  <a:extLst>
                    <a:ext uri="{9D8B030D-6E8A-4147-A177-3AD203B41FA5}">
                      <a16:colId xmlns:a16="http://schemas.microsoft.com/office/drawing/2014/main" val="1960881569"/>
                    </a:ext>
                  </a:extLst>
                </a:gridCol>
                <a:gridCol w="1692234">
                  <a:extLst>
                    <a:ext uri="{9D8B030D-6E8A-4147-A177-3AD203B41FA5}">
                      <a16:colId xmlns:a16="http://schemas.microsoft.com/office/drawing/2014/main" val="3594904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1400" dirty="0" err="1"/>
                        <a:t>Synaptic</a:t>
                      </a:r>
                      <a:r>
                        <a:rPr lang="nl-BE" sz="1400" dirty="0"/>
                        <a:t> </a:t>
                      </a:r>
                      <a:r>
                        <a:rPr lang="nl-BE" sz="1400" dirty="0" err="1"/>
                        <a:t>layer</a:t>
                      </a:r>
                      <a:endParaRPr lang="nl-B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 err="1"/>
                        <a:t>Synaptic</a:t>
                      </a:r>
                      <a:r>
                        <a:rPr lang="nl-BE" sz="1400" dirty="0"/>
                        <a:t> 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 err="1"/>
                        <a:t>Condition</a:t>
                      </a:r>
                      <a:endParaRPr lang="nl-B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 err="1"/>
                        <a:t>Colocalized</a:t>
                      </a:r>
                      <a:r>
                        <a:rPr lang="nl-BE" sz="1400" dirty="0"/>
                        <a:t> </a:t>
                      </a:r>
                      <a:r>
                        <a:rPr lang="nl-BE" sz="1400" dirty="0" err="1"/>
                        <a:t>puncta</a:t>
                      </a:r>
                      <a:endParaRPr lang="nl-B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09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400" dirty="0"/>
                        <a:t>CA1 SR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VLGUT1-PSD95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Controls </a:t>
                      </a:r>
                      <a:r>
                        <a:rPr lang="nl-BE" sz="1400" dirty="0" err="1"/>
                        <a:t>vs</a:t>
                      </a:r>
                      <a:r>
                        <a:rPr lang="nl-BE" sz="1400" dirty="0"/>
                        <a:t> protein1 </a:t>
                      </a:r>
                      <a:r>
                        <a:rPr lang="nl-BE" sz="1400" dirty="0" err="1"/>
                        <a:t>gRNA</a:t>
                      </a:r>
                      <a:r>
                        <a:rPr lang="nl-BE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80 </a:t>
                      </a:r>
                      <a:r>
                        <a:rPr lang="nl-BE" sz="1400" dirty="0" err="1"/>
                        <a:t>vs</a:t>
                      </a:r>
                      <a:r>
                        <a:rPr lang="nl-BE" sz="1400" dirty="0"/>
                        <a:t> 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64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/>
                        <a:t>CA1 SLM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/>
                        <a:t>VLGUT1-PSD95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/>
                        <a:t>Controls </a:t>
                      </a:r>
                      <a:r>
                        <a:rPr lang="nl-BE" sz="1400" dirty="0" err="1"/>
                        <a:t>vs</a:t>
                      </a:r>
                      <a:r>
                        <a:rPr lang="nl-BE" sz="1400" dirty="0"/>
                        <a:t> protein1 </a:t>
                      </a:r>
                      <a:r>
                        <a:rPr lang="nl-BE" sz="1400" dirty="0" err="1"/>
                        <a:t>gRNA</a:t>
                      </a:r>
                      <a:r>
                        <a:rPr lang="nl-BE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/>
                        <a:t>78 </a:t>
                      </a:r>
                      <a:r>
                        <a:rPr lang="nl-BE" sz="1400" dirty="0" err="1"/>
                        <a:t>vs</a:t>
                      </a:r>
                      <a:r>
                        <a:rPr lang="nl-BE" sz="1400" dirty="0"/>
                        <a:t> 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33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87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32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8CF31A-0765-460D-BA29-62ACD4BC8A93}"/>
              </a:ext>
            </a:extLst>
          </p:cNvPr>
          <p:cNvSpPr/>
          <p:nvPr/>
        </p:nvSpPr>
        <p:spPr>
          <a:xfrm>
            <a:off x="2572787" y="390525"/>
            <a:ext cx="7591792" cy="338137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A3D3B3-BD36-4F3A-83E0-E695E27A330E}"/>
              </a:ext>
            </a:extLst>
          </p:cNvPr>
          <p:cNvSpPr/>
          <p:nvPr/>
        </p:nvSpPr>
        <p:spPr>
          <a:xfrm>
            <a:off x="74429" y="1835150"/>
            <a:ext cx="2406650" cy="2603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BA4D3-7B28-4FBD-8F5A-CEDAC4B9D732}"/>
              </a:ext>
            </a:extLst>
          </p:cNvPr>
          <p:cNvSpPr txBox="1"/>
          <p:nvPr/>
        </p:nvSpPr>
        <p:spPr>
          <a:xfrm>
            <a:off x="0" y="1835150"/>
            <a:ext cx="25555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100" dirty="0"/>
              <a:t>…_ProteinX_VGLUT1-PSD95_CA1-SLM.czi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C363F-2D25-49F0-A3A9-8B506ED165F3}"/>
              </a:ext>
            </a:extLst>
          </p:cNvPr>
          <p:cNvSpPr txBox="1"/>
          <p:nvPr/>
        </p:nvSpPr>
        <p:spPr>
          <a:xfrm>
            <a:off x="881351" y="1422400"/>
            <a:ext cx="6815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/>
              <a:t>Input: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29D58C-03B3-41B7-9D1D-EC385456A0B4}"/>
              </a:ext>
            </a:extLst>
          </p:cNvPr>
          <p:cNvSpPr/>
          <p:nvPr/>
        </p:nvSpPr>
        <p:spPr>
          <a:xfrm>
            <a:off x="91708" y="2169696"/>
            <a:ext cx="2406650" cy="2603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0DAAF7-5280-4005-81EB-E56D29C65499}"/>
              </a:ext>
            </a:extLst>
          </p:cNvPr>
          <p:cNvSpPr txBox="1"/>
          <p:nvPr/>
        </p:nvSpPr>
        <p:spPr>
          <a:xfrm>
            <a:off x="17279" y="2169696"/>
            <a:ext cx="24352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100" dirty="0"/>
              <a:t>…_ProteinX_VGLUT1-PSD95_CA3-SL.czi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D006F3-4A16-4A7E-AD85-CC2FD78C7AC9}"/>
              </a:ext>
            </a:extLst>
          </p:cNvPr>
          <p:cNvSpPr txBox="1"/>
          <p:nvPr/>
        </p:nvSpPr>
        <p:spPr>
          <a:xfrm>
            <a:off x="894121" y="2502982"/>
            <a:ext cx="338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/>
              <a:t>…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CC16D0-B5BF-4741-B8F5-E69FC168CEA9}"/>
              </a:ext>
            </a:extLst>
          </p:cNvPr>
          <p:cNvCxnSpPr>
            <a:cxnSpLocks/>
          </p:cNvCxnSpPr>
          <p:nvPr/>
        </p:nvCxnSpPr>
        <p:spPr>
          <a:xfrm>
            <a:off x="2572787" y="1968500"/>
            <a:ext cx="58895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6AA9BD-DC42-4743-B62F-741B5EAA48FC}"/>
              </a:ext>
            </a:extLst>
          </p:cNvPr>
          <p:cNvCxnSpPr>
            <a:cxnSpLocks/>
          </p:cNvCxnSpPr>
          <p:nvPr/>
        </p:nvCxnSpPr>
        <p:spPr>
          <a:xfrm>
            <a:off x="2572787" y="2305050"/>
            <a:ext cx="58895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6C1C69-D723-4800-885F-FADD9CB51768}"/>
              </a:ext>
            </a:extLst>
          </p:cNvPr>
          <p:cNvSpPr/>
          <p:nvPr/>
        </p:nvSpPr>
        <p:spPr>
          <a:xfrm>
            <a:off x="3161737" y="1592190"/>
            <a:ext cx="1249810" cy="11747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465416-93A1-4A77-A1C6-9CD94B876692}"/>
              </a:ext>
            </a:extLst>
          </p:cNvPr>
          <p:cNvSpPr txBox="1"/>
          <p:nvPr/>
        </p:nvSpPr>
        <p:spPr>
          <a:xfrm>
            <a:off x="3172868" y="1607361"/>
            <a:ext cx="12250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 err="1">
                <a:solidFill>
                  <a:schemeClr val="bg1"/>
                </a:solidFill>
              </a:rPr>
              <a:t>Extracting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  <a:r>
              <a:rPr lang="nl-BE" sz="1100" dirty="0" err="1">
                <a:solidFill>
                  <a:schemeClr val="bg1"/>
                </a:solidFill>
              </a:rPr>
              <a:t>optimal</a:t>
            </a:r>
            <a:endParaRPr lang="nl-BE" sz="1100" dirty="0">
              <a:solidFill>
                <a:schemeClr val="bg1"/>
              </a:solidFill>
            </a:endParaRPr>
          </a:p>
          <a:p>
            <a:pPr algn="ctr"/>
            <a:r>
              <a:rPr lang="nl-BE" sz="1100" dirty="0">
                <a:solidFill>
                  <a:schemeClr val="bg1"/>
                </a:solidFill>
              </a:rPr>
              <a:t>parameters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6D81C7-ACDD-491E-B154-A9E883689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635" y="2057765"/>
            <a:ext cx="489335" cy="50051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173704-91D3-4375-8F42-0EDFE6B188B9}"/>
              </a:ext>
            </a:extLst>
          </p:cNvPr>
          <p:cNvCxnSpPr>
            <a:cxnSpLocks/>
          </p:cNvCxnSpPr>
          <p:nvPr/>
        </p:nvCxnSpPr>
        <p:spPr>
          <a:xfrm>
            <a:off x="4397883" y="1913001"/>
            <a:ext cx="135549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75AA74-C342-45F0-916E-943C194B8DDB}"/>
              </a:ext>
            </a:extLst>
          </p:cNvPr>
          <p:cNvSpPr/>
          <p:nvPr/>
        </p:nvSpPr>
        <p:spPr>
          <a:xfrm>
            <a:off x="3522634" y="3860800"/>
            <a:ext cx="6108545" cy="35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ECE9A-F768-4B6A-8593-1D75961BB1BD}"/>
              </a:ext>
            </a:extLst>
          </p:cNvPr>
          <p:cNvSpPr txBox="1"/>
          <p:nvPr/>
        </p:nvSpPr>
        <p:spPr>
          <a:xfrm>
            <a:off x="4022900" y="3886398"/>
            <a:ext cx="4803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400" dirty="0">
                <a:solidFill>
                  <a:schemeClr val="bg1"/>
                </a:solidFill>
              </a:rPr>
              <a:t>File export </a:t>
            </a:r>
            <a:r>
              <a:rPr lang="nl-BE" sz="1400" dirty="0" err="1">
                <a:solidFill>
                  <a:schemeClr val="bg1"/>
                </a:solidFill>
              </a:rPr>
              <a:t>for</a:t>
            </a:r>
            <a:r>
              <a:rPr lang="nl-BE" sz="1400" dirty="0">
                <a:solidFill>
                  <a:schemeClr val="bg1"/>
                </a:solidFill>
              </a:rPr>
              <a:t> </a:t>
            </a:r>
            <a:r>
              <a:rPr lang="nl-BE" sz="1400" dirty="0" err="1">
                <a:solidFill>
                  <a:schemeClr val="bg1"/>
                </a:solidFill>
              </a:rPr>
              <a:t>inspection</a:t>
            </a:r>
            <a:endParaRPr lang="nl-BE" sz="1400" dirty="0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396A3C-1778-49AC-86D2-5D9F3702659B}"/>
              </a:ext>
            </a:extLst>
          </p:cNvPr>
          <p:cNvCxnSpPr>
            <a:cxnSpLocks/>
          </p:cNvCxnSpPr>
          <p:nvPr/>
        </p:nvCxnSpPr>
        <p:spPr>
          <a:xfrm>
            <a:off x="7032007" y="2281992"/>
            <a:ext cx="15768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18E2243-F66D-4A47-BF27-A37FE245372E}"/>
              </a:ext>
            </a:extLst>
          </p:cNvPr>
          <p:cNvSpPr txBox="1"/>
          <p:nvPr/>
        </p:nvSpPr>
        <p:spPr>
          <a:xfrm>
            <a:off x="3967150" y="362631"/>
            <a:ext cx="4803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2000" dirty="0" err="1">
                <a:solidFill>
                  <a:schemeClr val="bg1"/>
                </a:solidFill>
              </a:rPr>
              <a:t>Synapse</a:t>
            </a:r>
            <a:r>
              <a:rPr lang="nl-BE" sz="2000" dirty="0">
                <a:solidFill>
                  <a:schemeClr val="bg1"/>
                </a:solidFill>
              </a:rPr>
              <a:t> </a:t>
            </a:r>
            <a:r>
              <a:rPr lang="nl-BE" sz="2000" dirty="0" err="1">
                <a:solidFill>
                  <a:schemeClr val="bg1"/>
                </a:solidFill>
              </a:rPr>
              <a:t>counting</a:t>
            </a:r>
            <a:r>
              <a:rPr lang="nl-BE" sz="2000" dirty="0">
                <a:solidFill>
                  <a:schemeClr val="bg1"/>
                </a:solidFill>
              </a:rPr>
              <a:t> image analysis pipeline</a:t>
            </a:r>
          </a:p>
          <a:p>
            <a:pPr algn="ctr"/>
            <a:r>
              <a:rPr lang="nl-BE" sz="1200" dirty="0">
                <a:solidFill>
                  <a:schemeClr val="bg1"/>
                </a:solidFill>
              </a:rPr>
              <a:t>- For </a:t>
            </a:r>
            <a:r>
              <a:rPr lang="nl-BE" sz="1200" dirty="0" err="1">
                <a:solidFill>
                  <a:schemeClr val="bg1"/>
                </a:solidFill>
              </a:rPr>
              <a:t>each</a:t>
            </a:r>
            <a:r>
              <a:rPr lang="nl-BE" sz="1200" dirty="0">
                <a:solidFill>
                  <a:schemeClr val="bg1"/>
                </a:solidFill>
              </a:rPr>
              <a:t> </a:t>
            </a:r>
            <a:r>
              <a:rPr lang="nl-BE" sz="1200" dirty="0" err="1">
                <a:solidFill>
                  <a:schemeClr val="bg1"/>
                </a:solidFill>
              </a:rPr>
              <a:t>experimental</a:t>
            </a:r>
            <a:r>
              <a:rPr lang="nl-BE" sz="1200" dirty="0">
                <a:solidFill>
                  <a:schemeClr val="bg1"/>
                </a:solidFill>
              </a:rPr>
              <a:t> </a:t>
            </a:r>
            <a:r>
              <a:rPr lang="nl-BE" sz="1200" dirty="0" err="1">
                <a:solidFill>
                  <a:schemeClr val="bg1"/>
                </a:solidFill>
              </a:rPr>
              <a:t>replicate</a:t>
            </a:r>
            <a:endParaRPr lang="nl-BE" sz="1200" dirty="0">
              <a:solidFill>
                <a:schemeClr val="bg1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A2C0BCB-7CC0-4FB9-828C-9B5A3DBBA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749" y="1930882"/>
            <a:ext cx="508808" cy="562533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A1AF38-6FA0-439C-BFBE-D77FF6D95819}"/>
              </a:ext>
            </a:extLst>
          </p:cNvPr>
          <p:cNvCxnSpPr>
            <a:cxnSpLocks/>
          </p:cNvCxnSpPr>
          <p:nvPr/>
        </p:nvCxnSpPr>
        <p:spPr>
          <a:xfrm>
            <a:off x="7413685" y="2502982"/>
            <a:ext cx="0" cy="12625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2EA7501-E2D8-4B01-B254-50B8A0AD4A08}"/>
              </a:ext>
            </a:extLst>
          </p:cNvPr>
          <p:cNvSpPr/>
          <p:nvPr/>
        </p:nvSpPr>
        <p:spPr>
          <a:xfrm>
            <a:off x="5780105" y="1607361"/>
            <a:ext cx="1249810" cy="11747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C1E42D-F94F-4CEA-BEA6-D7793B0C370B}"/>
              </a:ext>
            </a:extLst>
          </p:cNvPr>
          <p:cNvCxnSpPr>
            <a:cxnSpLocks/>
          </p:cNvCxnSpPr>
          <p:nvPr/>
        </p:nvCxnSpPr>
        <p:spPr>
          <a:xfrm>
            <a:off x="8010585" y="2502982"/>
            <a:ext cx="0" cy="126891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72C232FD-DE71-4569-840B-E3C76FE7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760" y="2041987"/>
            <a:ext cx="489335" cy="50051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8F73343-7994-4A47-8816-C30601355AB6}"/>
              </a:ext>
            </a:extLst>
          </p:cNvPr>
          <p:cNvSpPr txBox="1"/>
          <p:nvPr/>
        </p:nvSpPr>
        <p:spPr>
          <a:xfrm>
            <a:off x="5876046" y="1607360"/>
            <a:ext cx="10967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 err="1">
                <a:solidFill>
                  <a:schemeClr val="bg1"/>
                </a:solidFill>
              </a:rPr>
              <a:t>Calculate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  <a:r>
              <a:rPr lang="nl-BE" sz="1100" dirty="0" err="1">
                <a:solidFill>
                  <a:schemeClr val="bg1"/>
                </a:solidFill>
              </a:rPr>
              <a:t>mean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nl-BE" sz="1100" dirty="0">
                <a:solidFill>
                  <a:schemeClr val="bg1"/>
                </a:solidFill>
              </a:rPr>
              <a:t>parameters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9C6FAB-3F3F-43BF-BF2C-40CB56406D71}"/>
              </a:ext>
            </a:extLst>
          </p:cNvPr>
          <p:cNvSpPr txBox="1"/>
          <p:nvPr/>
        </p:nvSpPr>
        <p:spPr>
          <a:xfrm>
            <a:off x="4411547" y="1113851"/>
            <a:ext cx="1005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>
                <a:solidFill>
                  <a:schemeClr val="bg1"/>
                </a:solidFill>
              </a:rPr>
              <a:t>opt-param.csv</a:t>
            </a:r>
          </a:p>
          <a:p>
            <a:pPr algn="ctr"/>
            <a:r>
              <a:rPr lang="nl-BE" sz="1100" dirty="0">
                <a:solidFill>
                  <a:schemeClr val="bg1"/>
                </a:solidFill>
              </a:rPr>
              <a:t>spots.tiff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09B826-89C7-4487-8F7A-E2AB68A7EAB3}"/>
              </a:ext>
            </a:extLst>
          </p:cNvPr>
          <p:cNvSpPr txBox="1"/>
          <p:nvPr/>
        </p:nvSpPr>
        <p:spPr>
          <a:xfrm>
            <a:off x="7121623" y="1368182"/>
            <a:ext cx="11352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>
                <a:solidFill>
                  <a:schemeClr val="bg1"/>
                </a:solidFill>
              </a:rPr>
              <a:t>mean-param.csv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BA4134-3E34-40E1-8859-A9510EB592AA}"/>
              </a:ext>
            </a:extLst>
          </p:cNvPr>
          <p:cNvSpPr txBox="1"/>
          <p:nvPr/>
        </p:nvSpPr>
        <p:spPr>
          <a:xfrm>
            <a:off x="7122288" y="1591677"/>
            <a:ext cx="11705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>
                <a:solidFill>
                  <a:schemeClr val="bg1"/>
                </a:solidFill>
              </a:rPr>
              <a:t>mean-param.png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804CA88-28B6-41B4-9559-B8BB226DE24D}"/>
              </a:ext>
            </a:extLst>
          </p:cNvPr>
          <p:cNvSpPr/>
          <p:nvPr/>
        </p:nvSpPr>
        <p:spPr>
          <a:xfrm>
            <a:off x="8626108" y="1603353"/>
            <a:ext cx="1249810" cy="11747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94F1B4E-58F8-44A2-BB92-1087D51B6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63" y="2037979"/>
            <a:ext cx="489335" cy="50051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3AE266F-D335-4A15-9E75-D06E85CD38D6}"/>
              </a:ext>
            </a:extLst>
          </p:cNvPr>
          <p:cNvSpPr txBox="1"/>
          <p:nvPr/>
        </p:nvSpPr>
        <p:spPr>
          <a:xfrm>
            <a:off x="8695603" y="1603352"/>
            <a:ext cx="11496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 err="1">
                <a:solidFill>
                  <a:schemeClr val="bg1"/>
                </a:solidFill>
              </a:rPr>
              <a:t>Calculate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nl-BE" sz="1100" dirty="0" err="1">
                <a:solidFill>
                  <a:schemeClr val="bg1"/>
                </a:solidFill>
              </a:rPr>
              <a:t>colocalized</a:t>
            </a:r>
            <a:r>
              <a:rPr lang="nl-BE" sz="1100" dirty="0">
                <a:solidFill>
                  <a:schemeClr val="bg1"/>
                </a:solidFill>
              </a:rPr>
              <a:t> spots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A0C0B1C-6816-46B2-AB6B-3A705283B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233" y="1930881"/>
            <a:ext cx="524004" cy="562533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E7035EA-7A33-4615-97A4-BFFCC24CD5B6}"/>
              </a:ext>
            </a:extLst>
          </p:cNvPr>
          <p:cNvCxnSpPr>
            <a:cxnSpLocks/>
          </p:cNvCxnSpPr>
          <p:nvPr/>
        </p:nvCxnSpPr>
        <p:spPr>
          <a:xfrm>
            <a:off x="9875918" y="2281992"/>
            <a:ext cx="28866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82452F9-114E-4E03-A04E-6DA0DA92BF5F}"/>
              </a:ext>
            </a:extLst>
          </p:cNvPr>
          <p:cNvCxnSpPr/>
          <p:nvPr/>
        </p:nvCxnSpPr>
        <p:spPr>
          <a:xfrm>
            <a:off x="2572787" y="2034239"/>
            <a:ext cx="24484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55EA008-B14B-4279-BAC7-803AC835EC5D}"/>
              </a:ext>
            </a:extLst>
          </p:cNvPr>
          <p:cNvCxnSpPr/>
          <p:nvPr/>
        </p:nvCxnSpPr>
        <p:spPr>
          <a:xfrm>
            <a:off x="2572787" y="2370789"/>
            <a:ext cx="24484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30438E5-A923-4E09-93C1-EDCEBCD9334C}"/>
              </a:ext>
            </a:extLst>
          </p:cNvPr>
          <p:cNvCxnSpPr>
            <a:cxnSpLocks/>
          </p:cNvCxnSpPr>
          <p:nvPr/>
        </p:nvCxnSpPr>
        <p:spPr>
          <a:xfrm>
            <a:off x="2811279" y="2034239"/>
            <a:ext cx="0" cy="11725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2A373D5-F4FE-46DF-ACD4-FF8B7C897AE1}"/>
              </a:ext>
            </a:extLst>
          </p:cNvPr>
          <p:cNvCxnSpPr>
            <a:cxnSpLocks/>
          </p:cNvCxnSpPr>
          <p:nvPr/>
        </p:nvCxnSpPr>
        <p:spPr>
          <a:xfrm>
            <a:off x="2804929" y="3206750"/>
            <a:ext cx="56324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7E2A6F7-CD76-424F-B627-06644B09DFE5}"/>
              </a:ext>
            </a:extLst>
          </p:cNvPr>
          <p:cNvCxnSpPr>
            <a:cxnSpLocks/>
          </p:cNvCxnSpPr>
          <p:nvPr/>
        </p:nvCxnSpPr>
        <p:spPr>
          <a:xfrm>
            <a:off x="8437379" y="2370789"/>
            <a:ext cx="0" cy="8359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A2C00EE-12C3-449B-B792-8E279A29D9BF}"/>
              </a:ext>
            </a:extLst>
          </p:cNvPr>
          <p:cNvCxnSpPr/>
          <p:nvPr/>
        </p:nvCxnSpPr>
        <p:spPr>
          <a:xfrm>
            <a:off x="8437379" y="2370789"/>
            <a:ext cx="17145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66B5FC2D-EA49-49B3-A493-4E1B718E2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5477" y="2146868"/>
            <a:ext cx="508808" cy="56253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3E9EF97-AC7F-4677-996A-5C1A4CE5C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3280" y="2143551"/>
            <a:ext cx="524004" cy="562533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B4AE77A8-B3B8-4D70-9C46-27EA2F9EBB6F}"/>
              </a:ext>
            </a:extLst>
          </p:cNvPr>
          <p:cNvSpPr txBox="1"/>
          <p:nvPr/>
        </p:nvSpPr>
        <p:spPr>
          <a:xfrm>
            <a:off x="10702929" y="1544738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/>
              <a:t>	statistics.csv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DB57BA-41F1-4D5D-9213-E45EF1CF560D}"/>
              </a:ext>
            </a:extLst>
          </p:cNvPr>
          <p:cNvSpPr txBox="1"/>
          <p:nvPr/>
        </p:nvSpPr>
        <p:spPr>
          <a:xfrm>
            <a:off x="10597132" y="1771405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/>
              <a:t>	statistics_fig.csv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A5DDA7D-8719-4F85-A2ED-F724BC1430FA}"/>
              </a:ext>
            </a:extLst>
          </p:cNvPr>
          <p:cNvSpPr txBox="1"/>
          <p:nvPr/>
        </p:nvSpPr>
        <p:spPr>
          <a:xfrm>
            <a:off x="10633671" y="2954059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/>
              <a:t>	image_spots.csv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305F6B-AF5F-445B-A55D-53BD5CF110F2}"/>
              </a:ext>
            </a:extLst>
          </p:cNvPr>
          <p:cNvCxnSpPr>
            <a:cxnSpLocks/>
          </p:cNvCxnSpPr>
          <p:nvPr/>
        </p:nvCxnSpPr>
        <p:spPr>
          <a:xfrm>
            <a:off x="4867335" y="1913001"/>
            <a:ext cx="0" cy="185254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60ACA0B-A6E0-4F51-89AA-469210685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921" y="1571795"/>
            <a:ext cx="508808" cy="54622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FDF4DC6-3F02-4BE0-B559-F212CE6EA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627" y="2169695"/>
            <a:ext cx="495101" cy="54445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6FB011A4-6D03-412A-91FE-D66BA2CC8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9157" y="3218986"/>
            <a:ext cx="495101" cy="544457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1FD5B65E-31E6-4F10-92DC-F88AECB373E7}"/>
              </a:ext>
            </a:extLst>
          </p:cNvPr>
          <p:cNvSpPr txBox="1"/>
          <p:nvPr/>
        </p:nvSpPr>
        <p:spPr>
          <a:xfrm>
            <a:off x="10730981" y="912769"/>
            <a:ext cx="835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/>
              <a:t>Output: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594E085-5AB5-48E5-B43E-42D10D0C0C0A}"/>
              </a:ext>
            </a:extLst>
          </p:cNvPr>
          <p:cNvSpPr txBox="1"/>
          <p:nvPr/>
        </p:nvSpPr>
        <p:spPr>
          <a:xfrm>
            <a:off x="968282" y="4545147"/>
            <a:ext cx="27815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/>
              <a:t>opt-param.csv</a:t>
            </a:r>
          </a:p>
          <a:p>
            <a:pPr algn="ctr"/>
            <a:r>
              <a:rPr lang="nl-BE" sz="1100" i="1" dirty="0" err="1"/>
              <a:t>Optimal</a:t>
            </a:r>
            <a:r>
              <a:rPr lang="nl-BE" sz="1100" i="1" dirty="0"/>
              <a:t> parameters </a:t>
            </a:r>
            <a:r>
              <a:rPr lang="nl-BE" sz="1100" i="1" dirty="0" err="1"/>
              <a:t>for</a:t>
            </a:r>
            <a:r>
              <a:rPr lang="nl-BE" sz="1100" i="1" dirty="0"/>
              <a:t> </a:t>
            </a:r>
            <a:r>
              <a:rPr lang="nl-BE" sz="1100" i="1" dirty="0" err="1"/>
              <a:t>each</a:t>
            </a:r>
            <a:r>
              <a:rPr lang="nl-BE" sz="1100" i="1" dirty="0"/>
              <a:t> </a:t>
            </a:r>
            <a:r>
              <a:rPr lang="nl-BE" sz="1100" i="1" dirty="0" err="1"/>
              <a:t>imported</a:t>
            </a:r>
            <a:r>
              <a:rPr lang="nl-BE" sz="1100" i="1" dirty="0"/>
              <a:t> image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1174F75-F337-4050-99B0-B316B6FF528C}"/>
              </a:ext>
            </a:extLst>
          </p:cNvPr>
          <p:cNvSpPr/>
          <p:nvPr/>
        </p:nvSpPr>
        <p:spPr>
          <a:xfrm>
            <a:off x="260568" y="5161555"/>
            <a:ext cx="419698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/>
              <a:t>spots.tiff</a:t>
            </a:r>
          </a:p>
          <a:p>
            <a:pPr algn="ctr"/>
            <a:r>
              <a:rPr lang="nl-BE" sz="1100" i="1" dirty="0" err="1"/>
              <a:t>Detected</a:t>
            </a:r>
            <a:r>
              <a:rPr lang="nl-BE" sz="1100" i="1" dirty="0"/>
              <a:t> spots on </a:t>
            </a:r>
            <a:r>
              <a:rPr lang="nl-BE" sz="1100" i="1" dirty="0" err="1"/>
              <a:t>each</a:t>
            </a:r>
            <a:r>
              <a:rPr lang="nl-BE" sz="1100" i="1" dirty="0"/>
              <a:t> image </a:t>
            </a:r>
            <a:r>
              <a:rPr lang="nl-BE" sz="1100" i="1" dirty="0" err="1"/>
              <a:t>with</a:t>
            </a:r>
            <a:r>
              <a:rPr lang="nl-BE" sz="1100" i="1" dirty="0"/>
              <a:t> </a:t>
            </a:r>
            <a:r>
              <a:rPr lang="nl-BE" sz="1100" i="1" dirty="0" err="1"/>
              <a:t>optimal</a:t>
            </a:r>
            <a:r>
              <a:rPr lang="nl-BE" sz="1100" i="1" dirty="0"/>
              <a:t> parameters </a:t>
            </a:r>
            <a:r>
              <a:rPr lang="nl-BE" sz="1100" i="1" dirty="0" err="1"/>
              <a:t>for</a:t>
            </a:r>
            <a:r>
              <a:rPr lang="nl-BE" sz="1100" i="1" dirty="0"/>
              <a:t> </a:t>
            </a:r>
            <a:r>
              <a:rPr lang="nl-BE" sz="1100" i="1" dirty="0" err="1"/>
              <a:t>that</a:t>
            </a:r>
            <a:r>
              <a:rPr lang="nl-BE" sz="1100" i="1" dirty="0"/>
              <a:t> image</a:t>
            </a:r>
          </a:p>
          <a:p>
            <a:pPr algn="ctr"/>
            <a:endParaRPr lang="nl-BE" sz="1100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66508AB-3D99-48DF-9CD8-8414F5BCF3A0}"/>
              </a:ext>
            </a:extLst>
          </p:cNvPr>
          <p:cNvCxnSpPr/>
          <p:nvPr/>
        </p:nvCxnSpPr>
        <p:spPr>
          <a:xfrm>
            <a:off x="2572787" y="944519"/>
            <a:ext cx="75917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9ECAC5B-07A4-4A42-BCEC-7A4098F5FDBF}"/>
              </a:ext>
            </a:extLst>
          </p:cNvPr>
          <p:cNvSpPr/>
          <p:nvPr/>
        </p:nvSpPr>
        <p:spPr>
          <a:xfrm>
            <a:off x="5310224" y="4530842"/>
            <a:ext cx="210346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/>
              <a:t>mean-param.csv</a:t>
            </a:r>
          </a:p>
          <a:p>
            <a:pPr algn="ctr"/>
            <a:r>
              <a:rPr lang="nl-BE" sz="1100" i="1" dirty="0" err="1"/>
              <a:t>Mean</a:t>
            </a:r>
            <a:r>
              <a:rPr lang="nl-BE" sz="1100" i="1" dirty="0"/>
              <a:t> parameters </a:t>
            </a:r>
            <a:r>
              <a:rPr lang="nl-BE" sz="1100" i="1" dirty="0" err="1"/>
              <a:t>for</a:t>
            </a:r>
            <a:r>
              <a:rPr lang="nl-BE" sz="1100" i="1" dirty="0"/>
              <a:t> </a:t>
            </a:r>
            <a:r>
              <a:rPr lang="nl-BE" sz="1100" i="1" dirty="0" err="1"/>
              <a:t>each</a:t>
            </a:r>
            <a:r>
              <a:rPr lang="nl-BE" sz="1100" i="1" dirty="0"/>
              <a:t> </a:t>
            </a:r>
            <a:r>
              <a:rPr lang="nl-BE" sz="1100" i="1" dirty="0" err="1"/>
              <a:t>region</a:t>
            </a:r>
            <a:endParaRPr lang="nl-BE" sz="110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67E59F9-70B9-4071-960A-75D0DEACF1EA}"/>
              </a:ext>
            </a:extLst>
          </p:cNvPr>
          <p:cNvSpPr/>
          <p:nvPr/>
        </p:nvSpPr>
        <p:spPr>
          <a:xfrm>
            <a:off x="4855420" y="5155731"/>
            <a:ext cx="30652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/>
              <a:t>mean-param.png</a:t>
            </a:r>
          </a:p>
          <a:p>
            <a:pPr algn="ctr"/>
            <a:r>
              <a:rPr lang="nl-BE" sz="1100" i="1" dirty="0" err="1"/>
              <a:t>Binned</a:t>
            </a:r>
            <a:r>
              <a:rPr lang="nl-BE" sz="1100" i="1" dirty="0"/>
              <a:t> </a:t>
            </a:r>
            <a:r>
              <a:rPr lang="nl-BE" sz="1100" i="1" dirty="0" err="1"/>
              <a:t>mean</a:t>
            </a:r>
            <a:r>
              <a:rPr lang="nl-BE" sz="1100" i="1" dirty="0"/>
              <a:t> parameters </a:t>
            </a:r>
            <a:r>
              <a:rPr lang="nl-BE" sz="1100" i="1" dirty="0" err="1"/>
              <a:t>to</a:t>
            </a:r>
            <a:r>
              <a:rPr lang="nl-BE" sz="1100" i="1" dirty="0"/>
              <a:t> check </a:t>
            </a:r>
            <a:r>
              <a:rPr lang="nl-BE" sz="1100" i="1" dirty="0" err="1"/>
              <a:t>the</a:t>
            </a:r>
            <a:r>
              <a:rPr lang="nl-BE" sz="1100" i="1" dirty="0"/>
              <a:t> </a:t>
            </a:r>
            <a:r>
              <a:rPr lang="nl-BE" sz="1100" i="1" dirty="0" err="1"/>
              <a:t>distribution</a:t>
            </a:r>
            <a:endParaRPr lang="nl-BE" sz="1100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429E801-4C0A-4155-A4C1-AF817FF5ABB4}"/>
              </a:ext>
            </a:extLst>
          </p:cNvPr>
          <p:cNvSpPr/>
          <p:nvPr/>
        </p:nvSpPr>
        <p:spPr>
          <a:xfrm>
            <a:off x="8824252" y="4455321"/>
            <a:ext cx="239200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/>
              <a:t>statistics.csv</a:t>
            </a:r>
          </a:p>
          <a:p>
            <a:pPr algn="ctr"/>
            <a:r>
              <a:rPr lang="nl-BE" sz="1100" i="1" dirty="0" err="1"/>
              <a:t>All</a:t>
            </a:r>
            <a:r>
              <a:rPr lang="nl-BE" sz="1100" i="1" dirty="0"/>
              <a:t> </a:t>
            </a:r>
            <a:r>
              <a:rPr lang="nl-BE" sz="1100" i="1" dirty="0" err="1"/>
              <a:t>statistics</a:t>
            </a:r>
            <a:r>
              <a:rPr lang="nl-BE" sz="1100" i="1" dirty="0"/>
              <a:t> </a:t>
            </a:r>
            <a:r>
              <a:rPr lang="nl-BE" sz="1100" i="1" dirty="0" err="1"/>
              <a:t>concerning</a:t>
            </a:r>
            <a:r>
              <a:rPr lang="nl-BE" sz="1100" i="1" dirty="0"/>
              <a:t> </a:t>
            </a:r>
            <a:r>
              <a:rPr lang="nl-BE" sz="1100" i="1" dirty="0" err="1"/>
              <a:t>the</a:t>
            </a:r>
            <a:r>
              <a:rPr lang="nl-BE" sz="1100" i="1" dirty="0"/>
              <a:t> </a:t>
            </a:r>
            <a:r>
              <a:rPr lang="nl-BE" sz="1100" i="1" dirty="0" err="1"/>
              <a:t>calculation</a:t>
            </a:r>
            <a:endParaRPr lang="nl-BE" sz="11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73833DE-01DC-4DBC-AC0D-167CC8010FFD}"/>
              </a:ext>
            </a:extLst>
          </p:cNvPr>
          <p:cNvSpPr/>
          <p:nvPr/>
        </p:nvSpPr>
        <p:spPr>
          <a:xfrm>
            <a:off x="9406742" y="5156299"/>
            <a:ext cx="141897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/>
              <a:t>statistics.png</a:t>
            </a:r>
          </a:p>
          <a:p>
            <a:pPr algn="ctr"/>
            <a:r>
              <a:rPr lang="nl-BE" sz="1100" i="1" dirty="0" err="1"/>
              <a:t>All</a:t>
            </a:r>
            <a:r>
              <a:rPr lang="nl-BE" sz="1100" i="1" dirty="0"/>
              <a:t> </a:t>
            </a:r>
            <a:r>
              <a:rPr lang="nl-BE" sz="1100" i="1" dirty="0" err="1"/>
              <a:t>statistics</a:t>
            </a:r>
            <a:r>
              <a:rPr lang="nl-BE" sz="1100" i="1" dirty="0"/>
              <a:t> in </a:t>
            </a:r>
            <a:r>
              <a:rPr lang="nl-BE" sz="1100" i="1" dirty="0" err="1"/>
              <a:t>figures</a:t>
            </a:r>
            <a:endParaRPr lang="nl-BE" sz="11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08A4504-F491-4A37-8A2C-07DEA863EDD7}"/>
              </a:ext>
            </a:extLst>
          </p:cNvPr>
          <p:cNvSpPr/>
          <p:nvPr/>
        </p:nvSpPr>
        <p:spPr>
          <a:xfrm>
            <a:off x="8256870" y="5785529"/>
            <a:ext cx="37513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 err="1"/>
              <a:t>image_spots</a:t>
            </a:r>
            <a:endParaRPr lang="nl-BE" sz="1100" dirty="0"/>
          </a:p>
          <a:p>
            <a:pPr algn="ctr"/>
            <a:r>
              <a:rPr lang="nl-BE" sz="1100" i="1" dirty="0" err="1"/>
              <a:t>Detected</a:t>
            </a:r>
            <a:r>
              <a:rPr lang="nl-BE" sz="1100" i="1" dirty="0"/>
              <a:t> spots </a:t>
            </a:r>
            <a:r>
              <a:rPr lang="nl-BE" sz="1100" i="1" dirty="0" err="1"/>
              <a:t>for</a:t>
            </a:r>
            <a:r>
              <a:rPr lang="nl-BE" sz="1100" i="1" dirty="0"/>
              <a:t> </a:t>
            </a:r>
            <a:r>
              <a:rPr lang="nl-BE" sz="1100" i="1" dirty="0" err="1"/>
              <a:t>each</a:t>
            </a:r>
            <a:r>
              <a:rPr lang="nl-BE" sz="1100" i="1" dirty="0"/>
              <a:t> image </a:t>
            </a:r>
            <a:r>
              <a:rPr lang="nl-BE" sz="1100" i="1" dirty="0" err="1"/>
              <a:t>with</a:t>
            </a:r>
            <a:r>
              <a:rPr lang="nl-BE" sz="1100" i="1" dirty="0"/>
              <a:t> </a:t>
            </a:r>
            <a:r>
              <a:rPr lang="nl-BE" sz="1100" i="1" dirty="0" err="1"/>
              <a:t>mean</a:t>
            </a:r>
            <a:r>
              <a:rPr lang="nl-BE" sz="1100" i="1" dirty="0"/>
              <a:t> </a:t>
            </a:r>
            <a:r>
              <a:rPr lang="nl-BE" sz="1100" i="1" dirty="0" err="1"/>
              <a:t>optimal</a:t>
            </a:r>
            <a:r>
              <a:rPr lang="nl-BE" sz="1100" i="1" dirty="0"/>
              <a:t> parameters </a:t>
            </a:r>
            <a:endParaRPr lang="nl-BE" sz="1100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056B11B-6B45-496A-9D65-E4F1BB5DB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06" y="536129"/>
            <a:ext cx="2184695" cy="846805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6A656332-7B48-3298-481C-C9F95B2BB2BC}"/>
              </a:ext>
            </a:extLst>
          </p:cNvPr>
          <p:cNvSpPr txBox="1"/>
          <p:nvPr/>
        </p:nvSpPr>
        <p:spPr>
          <a:xfrm>
            <a:off x="353267" y="161104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Original pipeline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54294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8CF31A-0765-460D-BA29-62ACD4BC8A93}"/>
              </a:ext>
            </a:extLst>
          </p:cNvPr>
          <p:cNvSpPr/>
          <p:nvPr/>
        </p:nvSpPr>
        <p:spPr>
          <a:xfrm>
            <a:off x="2572787" y="390525"/>
            <a:ext cx="7591792" cy="338137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A3D3B3-BD36-4F3A-83E0-E695E27A330E}"/>
              </a:ext>
            </a:extLst>
          </p:cNvPr>
          <p:cNvSpPr/>
          <p:nvPr/>
        </p:nvSpPr>
        <p:spPr>
          <a:xfrm>
            <a:off x="74429" y="1835150"/>
            <a:ext cx="2406650" cy="2603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BA4D3-7B28-4FBD-8F5A-CEDAC4B9D732}"/>
              </a:ext>
            </a:extLst>
          </p:cNvPr>
          <p:cNvSpPr txBox="1"/>
          <p:nvPr/>
        </p:nvSpPr>
        <p:spPr>
          <a:xfrm>
            <a:off x="0" y="1835150"/>
            <a:ext cx="25555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100" dirty="0"/>
              <a:t>…_ProteinX_VGLUT1-PSD95_CA1-SLM.czi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C363F-2D25-49F0-A3A9-8B506ED165F3}"/>
              </a:ext>
            </a:extLst>
          </p:cNvPr>
          <p:cNvSpPr txBox="1"/>
          <p:nvPr/>
        </p:nvSpPr>
        <p:spPr>
          <a:xfrm>
            <a:off x="881351" y="1422400"/>
            <a:ext cx="6815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/>
              <a:t>Input: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29D58C-03B3-41B7-9D1D-EC385456A0B4}"/>
              </a:ext>
            </a:extLst>
          </p:cNvPr>
          <p:cNvSpPr/>
          <p:nvPr/>
        </p:nvSpPr>
        <p:spPr>
          <a:xfrm>
            <a:off x="91708" y="2169696"/>
            <a:ext cx="2406650" cy="2603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0DAAF7-5280-4005-81EB-E56D29C65499}"/>
              </a:ext>
            </a:extLst>
          </p:cNvPr>
          <p:cNvSpPr txBox="1"/>
          <p:nvPr/>
        </p:nvSpPr>
        <p:spPr>
          <a:xfrm>
            <a:off x="17279" y="2169696"/>
            <a:ext cx="24352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100" dirty="0"/>
              <a:t>…_ProteinX_VGLUT1-PSD95_CA3-SL.czi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D006F3-4A16-4A7E-AD85-CC2FD78C7AC9}"/>
              </a:ext>
            </a:extLst>
          </p:cNvPr>
          <p:cNvSpPr txBox="1"/>
          <p:nvPr/>
        </p:nvSpPr>
        <p:spPr>
          <a:xfrm>
            <a:off x="894121" y="2502982"/>
            <a:ext cx="338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/>
              <a:t>…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CC16D0-B5BF-4741-B8F5-E69FC168CEA9}"/>
              </a:ext>
            </a:extLst>
          </p:cNvPr>
          <p:cNvCxnSpPr>
            <a:cxnSpLocks/>
          </p:cNvCxnSpPr>
          <p:nvPr/>
        </p:nvCxnSpPr>
        <p:spPr>
          <a:xfrm>
            <a:off x="2572787" y="1968500"/>
            <a:ext cx="58895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6AA9BD-DC42-4743-B62F-741B5EAA48FC}"/>
              </a:ext>
            </a:extLst>
          </p:cNvPr>
          <p:cNvCxnSpPr>
            <a:cxnSpLocks/>
          </p:cNvCxnSpPr>
          <p:nvPr/>
        </p:nvCxnSpPr>
        <p:spPr>
          <a:xfrm>
            <a:off x="2572787" y="2305050"/>
            <a:ext cx="58895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6C1C69-D723-4800-885F-FADD9CB51768}"/>
              </a:ext>
            </a:extLst>
          </p:cNvPr>
          <p:cNvSpPr/>
          <p:nvPr/>
        </p:nvSpPr>
        <p:spPr>
          <a:xfrm>
            <a:off x="3161737" y="1592190"/>
            <a:ext cx="1249810" cy="11747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465416-93A1-4A77-A1C6-9CD94B876692}"/>
              </a:ext>
            </a:extLst>
          </p:cNvPr>
          <p:cNvSpPr txBox="1"/>
          <p:nvPr/>
        </p:nvSpPr>
        <p:spPr>
          <a:xfrm>
            <a:off x="3280271" y="1607361"/>
            <a:ext cx="10102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 err="1">
                <a:solidFill>
                  <a:schemeClr val="bg1"/>
                </a:solidFill>
              </a:rPr>
              <a:t>Extracting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  <a:r>
              <a:rPr lang="nl-BE" sz="1100" dirty="0" err="1">
                <a:solidFill>
                  <a:schemeClr val="bg1"/>
                </a:solidFill>
              </a:rPr>
              <a:t>the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nl-BE" sz="1100" dirty="0" err="1">
                <a:solidFill>
                  <a:schemeClr val="bg1"/>
                </a:solidFill>
              </a:rPr>
              <a:t>thresholds</a:t>
            </a:r>
            <a:endParaRPr lang="nl-BE" sz="11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6D81C7-ACDD-491E-B154-A9E883689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635" y="2057765"/>
            <a:ext cx="489335" cy="50051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173704-91D3-4375-8F42-0EDFE6B188B9}"/>
              </a:ext>
            </a:extLst>
          </p:cNvPr>
          <p:cNvCxnSpPr>
            <a:cxnSpLocks/>
          </p:cNvCxnSpPr>
          <p:nvPr/>
        </p:nvCxnSpPr>
        <p:spPr>
          <a:xfrm>
            <a:off x="4397883" y="1913001"/>
            <a:ext cx="135549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75AA74-C342-45F0-916E-943C194B8DDB}"/>
              </a:ext>
            </a:extLst>
          </p:cNvPr>
          <p:cNvSpPr/>
          <p:nvPr/>
        </p:nvSpPr>
        <p:spPr>
          <a:xfrm>
            <a:off x="3522634" y="3860800"/>
            <a:ext cx="6108545" cy="35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ECE9A-F768-4B6A-8593-1D75961BB1BD}"/>
              </a:ext>
            </a:extLst>
          </p:cNvPr>
          <p:cNvSpPr txBox="1"/>
          <p:nvPr/>
        </p:nvSpPr>
        <p:spPr>
          <a:xfrm>
            <a:off x="4022900" y="3886398"/>
            <a:ext cx="4803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400" dirty="0">
                <a:solidFill>
                  <a:schemeClr val="bg1"/>
                </a:solidFill>
              </a:rPr>
              <a:t>File export </a:t>
            </a:r>
            <a:r>
              <a:rPr lang="nl-BE" sz="1400" dirty="0" err="1">
                <a:solidFill>
                  <a:schemeClr val="bg1"/>
                </a:solidFill>
              </a:rPr>
              <a:t>for</a:t>
            </a:r>
            <a:r>
              <a:rPr lang="nl-BE" sz="1400" dirty="0">
                <a:solidFill>
                  <a:schemeClr val="bg1"/>
                </a:solidFill>
              </a:rPr>
              <a:t> </a:t>
            </a:r>
            <a:r>
              <a:rPr lang="nl-BE" sz="1400" dirty="0" err="1">
                <a:solidFill>
                  <a:schemeClr val="bg1"/>
                </a:solidFill>
              </a:rPr>
              <a:t>inspection</a:t>
            </a:r>
            <a:endParaRPr lang="nl-BE" sz="1400" dirty="0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396A3C-1778-49AC-86D2-5D9F3702659B}"/>
              </a:ext>
            </a:extLst>
          </p:cNvPr>
          <p:cNvCxnSpPr>
            <a:cxnSpLocks/>
          </p:cNvCxnSpPr>
          <p:nvPr/>
        </p:nvCxnSpPr>
        <p:spPr>
          <a:xfrm>
            <a:off x="7032007" y="2281992"/>
            <a:ext cx="15768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18E2243-F66D-4A47-BF27-A37FE245372E}"/>
              </a:ext>
            </a:extLst>
          </p:cNvPr>
          <p:cNvSpPr txBox="1"/>
          <p:nvPr/>
        </p:nvSpPr>
        <p:spPr>
          <a:xfrm>
            <a:off x="3293806" y="362631"/>
            <a:ext cx="6449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2000" dirty="0" err="1">
                <a:solidFill>
                  <a:schemeClr val="bg1"/>
                </a:solidFill>
              </a:rPr>
              <a:t>Synapse</a:t>
            </a:r>
            <a:r>
              <a:rPr lang="nl-BE" sz="2000" dirty="0">
                <a:solidFill>
                  <a:schemeClr val="bg1"/>
                </a:solidFill>
              </a:rPr>
              <a:t> </a:t>
            </a:r>
            <a:r>
              <a:rPr lang="nl-BE" sz="2000" dirty="0" err="1">
                <a:solidFill>
                  <a:schemeClr val="bg1"/>
                </a:solidFill>
              </a:rPr>
              <a:t>counting</a:t>
            </a:r>
            <a:r>
              <a:rPr lang="nl-BE" sz="2000" dirty="0">
                <a:solidFill>
                  <a:schemeClr val="bg1"/>
                </a:solidFill>
              </a:rPr>
              <a:t> image analysis pipeline - </a:t>
            </a:r>
            <a:r>
              <a:rPr lang="nl-BE" sz="2000" dirty="0" err="1">
                <a:solidFill>
                  <a:schemeClr val="bg1"/>
                </a:solidFill>
              </a:rPr>
              <a:t>surrogate</a:t>
            </a:r>
            <a:endParaRPr lang="nl-BE" sz="2000" dirty="0">
              <a:solidFill>
                <a:schemeClr val="bg1"/>
              </a:solidFill>
            </a:endParaRPr>
          </a:p>
          <a:p>
            <a:pPr algn="ctr"/>
            <a:r>
              <a:rPr lang="nl-BE" sz="1200" dirty="0">
                <a:solidFill>
                  <a:schemeClr val="bg1"/>
                </a:solidFill>
              </a:rPr>
              <a:t>- For </a:t>
            </a:r>
            <a:r>
              <a:rPr lang="nl-BE" sz="1200" dirty="0" err="1">
                <a:solidFill>
                  <a:schemeClr val="bg1"/>
                </a:solidFill>
              </a:rPr>
              <a:t>each</a:t>
            </a:r>
            <a:r>
              <a:rPr lang="nl-BE" sz="1200" dirty="0">
                <a:solidFill>
                  <a:schemeClr val="bg1"/>
                </a:solidFill>
              </a:rPr>
              <a:t> </a:t>
            </a:r>
            <a:r>
              <a:rPr lang="nl-BE" sz="1200" dirty="0" err="1">
                <a:solidFill>
                  <a:schemeClr val="bg1"/>
                </a:solidFill>
              </a:rPr>
              <a:t>experimental</a:t>
            </a:r>
            <a:r>
              <a:rPr lang="nl-BE" sz="1200" dirty="0">
                <a:solidFill>
                  <a:schemeClr val="bg1"/>
                </a:solidFill>
              </a:rPr>
              <a:t> </a:t>
            </a:r>
            <a:r>
              <a:rPr lang="nl-BE" sz="1200" dirty="0" err="1">
                <a:solidFill>
                  <a:schemeClr val="bg1"/>
                </a:solidFill>
              </a:rPr>
              <a:t>replicate</a:t>
            </a:r>
            <a:endParaRPr lang="nl-BE" sz="1200" dirty="0">
              <a:solidFill>
                <a:schemeClr val="bg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A1AF38-6FA0-439C-BFBE-D77FF6D95819}"/>
              </a:ext>
            </a:extLst>
          </p:cNvPr>
          <p:cNvCxnSpPr>
            <a:cxnSpLocks/>
          </p:cNvCxnSpPr>
          <p:nvPr/>
        </p:nvCxnSpPr>
        <p:spPr>
          <a:xfrm>
            <a:off x="7413685" y="2502982"/>
            <a:ext cx="0" cy="12625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2EA7501-E2D8-4B01-B254-50B8A0AD4A08}"/>
              </a:ext>
            </a:extLst>
          </p:cNvPr>
          <p:cNvSpPr/>
          <p:nvPr/>
        </p:nvSpPr>
        <p:spPr>
          <a:xfrm>
            <a:off x="5780105" y="1607361"/>
            <a:ext cx="1249810" cy="11747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2C232FD-DE71-4569-840B-E3C76FE7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760" y="2041987"/>
            <a:ext cx="489335" cy="50051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8F73343-7994-4A47-8816-C30601355AB6}"/>
              </a:ext>
            </a:extLst>
          </p:cNvPr>
          <p:cNvSpPr txBox="1"/>
          <p:nvPr/>
        </p:nvSpPr>
        <p:spPr>
          <a:xfrm>
            <a:off x="5876046" y="1607360"/>
            <a:ext cx="10967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 err="1">
                <a:solidFill>
                  <a:schemeClr val="bg1"/>
                </a:solidFill>
              </a:rPr>
              <a:t>Calculate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  <a:r>
              <a:rPr lang="nl-BE" sz="1100" dirty="0" err="1">
                <a:solidFill>
                  <a:schemeClr val="bg1"/>
                </a:solidFill>
              </a:rPr>
              <a:t>mean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nl-BE" sz="1100" dirty="0" err="1">
                <a:solidFill>
                  <a:schemeClr val="bg1"/>
                </a:solidFill>
              </a:rPr>
              <a:t>thresholds</a:t>
            </a:r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9C6FAB-3F3F-43BF-BF2C-40CB56406D71}"/>
              </a:ext>
            </a:extLst>
          </p:cNvPr>
          <p:cNvSpPr txBox="1"/>
          <p:nvPr/>
        </p:nvSpPr>
        <p:spPr>
          <a:xfrm>
            <a:off x="4413951" y="1113851"/>
            <a:ext cx="10005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>
                <a:solidFill>
                  <a:schemeClr val="bg1"/>
                </a:solidFill>
              </a:rPr>
              <a:t>thresholds.csv</a:t>
            </a:r>
          </a:p>
          <a:p>
            <a:pPr algn="ctr"/>
            <a:r>
              <a:rPr lang="nl-BE" sz="1100" dirty="0">
                <a:solidFill>
                  <a:schemeClr val="bg1"/>
                </a:solidFill>
              </a:rPr>
              <a:t>spots.tiff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09B826-89C7-4487-8F7A-E2AB68A7EAB3}"/>
              </a:ext>
            </a:extLst>
          </p:cNvPr>
          <p:cNvSpPr txBox="1"/>
          <p:nvPr/>
        </p:nvSpPr>
        <p:spPr>
          <a:xfrm>
            <a:off x="7005406" y="1368182"/>
            <a:ext cx="13676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>
                <a:solidFill>
                  <a:schemeClr val="bg1"/>
                </a:solidFill>
              </a:rPr>
              <a:t>mean-thresholds.csv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804CA88-28B6-41B4-9559-B8BB226DE24D}"/>
              </a:ext>
            </a:extLst>
          </p:cNvPr>
          <p:cNvSpPr/>
          <p:nvPr/>
        </p:nvSpPr>
        <p:spPr>
          <a:xfrm>
            <a:off x="8626108" y="1603353"/>
            <a:ext cx="1249810" cy="11747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94F1B4E-58F8-44A2-BB92-1087D51B6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63" y="2037979"/>
            <a:ext cx="489335" cy="50051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3AE266F-D335-4A15-9E75-D06E85CD38D6}"/>
              </a:ext>
            </a:extLst>
          </p:cNvPr>
          <p:cNvSpPr txBox="1"/>
          <p:nvPr/>
        </p:nvSpPr>
        <p:spPr>
          <a:xfrm>
            <a:off x="8819038" y="1603352"/>
            <a:ext cx="9028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 err="1">
                <a:solidFill>
                  <a:schemeClr val="bg1"/>
                </a:solidFill>
              </a:rPr>
              <a:t>Calculate</a:t>
            </a:r>
            <a:r>
              <a:rPr lang="nl-BE" sz="11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nl-BE" sz="1100" dirty="0">
                <a:solidFill>
                  <a:schemeClr val="bg1"/>
                </a:solidFill>
              </a:rPr>
              <a:t>overlap area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A0C0B1C-6816-46B2-AB6B-3A705283B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233" y="1930881"/>
            <a:ext cx="524004" cy="562533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E7035EA-7A33-4615-97A4-BFFCC24CD5B6}"/>
              </a:ext>
            </a:extLst>
          </p:cNvPr>
          <p:cNvCxnSpPr>
            <a:cxnSpLocks/>
          </p:cNvCxnSpPr>
          <p:nvPr/>
        </p:nvCxnSpPr>
        <p:spPr>
          <a:xfrm>
            <a:off x="9875918" y="2281992"/>
            <a:ext cx="28866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82452F9-114E-4E03-A04E-6DA0DA92BF5F}"/>
              </a:ext>
            </a:extLst>
          </p:cNvPr>
          <p:cNvCxnSpPr/>
          <p:nvPr/>
        </p:nvCxnSpPr>
        <p:spPr>
          <a:xfrm>
            <a:off x="2572787" y="2034239"/>
            <a:ext cx="24484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55EA008-B14B-4279-BAC7-803AC835EC5D}"/>
              </a:ext>
            </a:extLst>
          </p:cNvPr>
          <p:cNvCxnSpPr/>
          <p:nvPr/>
        </p:nvCxnSpPr>
        <p:spPr>
          <a:xfrm>
            <a:off x="2572787" y="2370789"/>
            <a:ext cx="24484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30438E5-A923-4E09-93C1-EDCEBCD9334C}"/>
              </a:ext>
            </a:extLst>
          </p:cNvPr>
          <p:cNvCxnSpPr>
            <a:cxnSpLocks/>
          </p:cNvCxnSpPr>
          <p:nvPr/>
        </p:nvCxnSpPr>
        <p:spPr>
          <a:xfrm>
            <a:off x="2811279" y="2034239"/>
            <a:ext cx="0" cy="11725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2A373D5-F4FE-46DF-ACD4-FF8B7C897AE1}"/>
              </a:ext>
            </a:extLst>
          </p:cNvPr>
          <p:cNvCxnSpPr>
            <a:cxnSpLocks/>
          </p:cNvCxnSpPr>
          <p:nvPr/>
        </p:nvCxnSpPr>
        <p:spPr>
          <a:xfrm>
            <a:off x="2804929" y="3206750"/>
            <a:ext cx="56324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7E2A6F7-CD76-424F-B627-06644B09DFE5}"/>
              </a:ext>
            </a:extLst>
          </p:cNvPr>
          <p:cNvCxnSpPr>
            <a:cxnSpLocks/>
          </p:cNvCxnSpPr>
          <p:nvPr/>
        </p:nvCxnSpPr>
        <p:spPr>
          <a:xfrm>
            <a:off x="8437379" y="2370789"/>
            <a:ext cx="0" cy="8359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A2C00EE-12C3-449B-B792-8E279A29D9BF}"/>
              </a:ext>
            </a:extLst>
          </p:cNvPr>
          <p:cNvCxnSpPr/>
          <p:nvPr/>
        </p:nvCxnSpPr>
        <p:spPr>
          <a:xfrm>
            <a:off x="8437379" y="2370789"/>
            <a:ext cx="17145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66B5FC2D-EA49-49B3-A493-4E1B718E2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5477" y="2146868"/>
            <a:ext cx="508808" cy="56253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3E9EF97-AC7F-4677-996A-5C1A4CE5C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3280" y="2143551"/>
            <a:ext cx="524004" cy="562533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B4AE77A8-B3B8-4D70-9C46-27EA2F9EBB6F}"/>
              </a:ext>
            </a:extLst>
          </p:cNvPr>
          <p:cNvSpPr txBox="1"/>
          <p:nvPr/>
        </p:nvSpPr>
        <p:spPr>
          <a:xfrm>
            <a:off x="10702929" y="1544738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/>
              <a:t>	statistics.csv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DB57BA-41F1-4D5D-9213-E45EF1CF560D}"/>
              </a:ext>
            </a:extLst>
          </p:cNvPr>
          <p:cNvSpPr txBox="1"/>
          <p:nvPr/>
        </p:nvSpPr>
        <p:spPr>
          <a:xfrm>
            <a:off x="10597132" y="1771405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/>
              <a:t>	statistics_fig.csv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A5DDA7D-8719-4F85-A2ED-F724BC1430FA}"/>
              </a:ext>
            </a:extLst>
          </p:cNvPr>
          <p:cNvSpPr txBox="1"/>
          <p:nvPr/>
        </p:nvSpPr>
        <p:spPr>
          <a:xfrm>
            <a:off x="10633671" y="2954059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/>
              <a:t>	image_spots.csv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305F6B-AF5F-445B-A55D-53BD5CF110F2}"/>
              </a:ext>
            </a:extLst>
          </p:cNvPr>
          <p:cNvCxnSpPr>
            <a:cxnSpLocks/>
          </p:cNvCxnSpPr>
          <p:nvPr/>
        </p:nvCxnSpPr>
        <p:spPr>
          <a:xfrm>
            <a:off x="4867335" y="1913001"/>
            <a:ext cx="0" cy="185254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60ACA0B-A6E0-4F51-89AA-469210685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921" y="1571795"/>
            <a:ext cx="508808" cy="54622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6FB011A4-6D03-412A-91FE-D66BA2CC8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9157" y="3218986"/>
            <a:ext cx="495101" cy="544457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1FD5B65E-31E6-4F10-92DC-F88AECB373E7}"/>
              </a:ext>
            </a:extLst>
          </p:cNvPr>
          <p:cNvSpPr txBox="1"/>
          <p:nvPr/>
        </p:nvSpPr>
        <p:spPr>
          <a:xfrm>
            <a:off x="10730981" y="912769"/>
            <a:ext cx="835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/>
              <a:t>Output: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594E085-5AB5-48E5-B43E-42D10D0C0C0A}"/>
              </a:ext>
            </a:extLst>
          </p:cNvPr>
          <p:cNvSpPr txBox="1"/>
          <p:nvPr/>
        </p:nvSpPr>
        <p:spPr>
          <a:xfrm>
            <a:off x="1239193" y="4545147"/>
            <a:ext cx="22397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BE" sz="1100" dirty="0"/>
              <a:t>opt-param.csv</a:t>
            </a:r>
          </a:p>
          <a:p>
            <a:pPr algn="ctr"/>
            <a:r>
              <a:rPr lang="nl-BE" sz="1100" i="1" dirty="0" err="1"/>
              <a:t>Thresholds</a:t>
            </a:r>
            <a:r>
              <a:rPr lang="nl-BE" sz="1100" i="1" dirty="0"/>
              <a:t> </a:t>
            </a:r>
            <a:r>
              <a:rPr lang="nl-BE" sz="1100" i="1" dirty="0" err="1"/>
              <a:t>for</a:t>
            </a:r>
            <a:r>
              <a:rPr lang="nl-BE" sz="1100" i="1" dirty="0"/>
              <a:t> </a:t>
            </a:r>
            <a:r>
              <a:rPr lang="nl-BE" sz="1100" i="1" dirty="0" err="1"/>
              <a:t>each</a:t>
            </a:r>
            <a:r>
              <a:rPr lang="nl-BE" sz="1100" i="1" dirty="0"/>
              <a:t> </a:t>
            </a:r>
            <a:r>
              <a:rPr lang="nl-BE" sz="1100" i="1" dirty="0" err="1"/>
              <a:t>imported</a:t>
            </a:r>
            <a:r>
              <a:rPr lang="nl-BE" sz="1100" i="1" dirty="0"/>
              <a:t> image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66508AB-3D99-48DF-9CD8-8414F5BCF3A0}"/>
              </a:ext>
            </a:extLst>
          </p:cNvPr>
          <p:cNvCxnSpPr/>
          <p:nvPr/>
        </p:nvCxnSpPr>
        <p:spPr>
          <a:xfrm>
            <a:off x="2572787" y="944519"/>
            <a:ext cx="75917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9ECAC5B-07A4-4A42-BCEC-7A4098F5FDBF}"/>
              </a:ext>
            </a:extLst>
          </p:cNvPr>
          <p:cNvSpPr/>
          <p:nvPr/>
        </p:nvSpPr>
        <p:spPr>
          <a:xfrm>
            <a:off x="5344689" y="4530842"/>
            <a:ext cx="20345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/>
              <a:t>mean-thresholds.csv</a:t>
            </a:r>
          </a:p>
          <a:p>
            <a:pPr algn="ctr"/>
            <a:r>
              <a:rPr lang="nl-BE" sz="1100" i="1" dirty="0" err="1"/>
              <a:t>Mean</a:t>
            </a:r>
            <a:r>
              <a:rPr lang="nl-BE" sz="1100" i="1" dirty="0"/>
              <a:t> </a:t>
            </a:r>
            <a:r>
              <a:rPr lang="nl-BE" sz="1100" i="1" dirty="0" err="1"/>
              <a:t>thresholds</a:t>
            </a:r>
            <a:r>
              <a:rPr lang="nl-BE" sz="1100" i="1" dirty="0"/>
              <a:t> </a:t>
            </a:r>
            <a:r>
              <a:rPr lang="nl-BE" sz="1100" i="1" dirty="0" err="1"/>
              <a:t>for</a:t>
            </a:r>
            <a:r>
              <a:rPr lang="nl-BE" sz="1100" i="1" dirty="0"/>
              <a:t> </a:t>
            </a:r>
            <a:r>
              <a:rPr lang="nl-BE" sz="1100" i="1" dirty="0" err="1"/>
              <a:t>each</a:t>
            </a:r>
            <a:r>
              <a:rPr lang="nl-BE" sz="1100" i="1" dirty="0"/>
              <a:t> </a:t>
            </a:r>
            <a:r>
              <a:rPr lang="nl-BE" sz="1100" i="1" dirty="0" err="1"/>
              <a:t>region</a:t>
            </a:r>
            <a:endParaRPr lang="nl-BE" sz="1100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429E801-4C0A-4155-A4C1-AF817FF5ABB4}"/>
              </a:ext>
            </a:extLst>
          </p:cNvPr>
          <p:cNvSpPr/>
          <p:nvPr/>
        </p:nvSpPr>
        <p:spPr>
          <a:xfrm>
            <a:off x="8824252" y="4455321"/>
            <a:ext cx="239200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/>
              <a:t>statistics.csv</a:t>
            </a:r>
          </a:p>
          <a:p>
            <a:pPr algn="ctr"/>
            <a:r>
              <a:rPr lang="nl-BE" sz="1100" i="1" dirty="0" err="1"/>
              <a:t>All</a:t>
            </a:r>
            <a:r>
              <a:rPr lang="nl-BE" sz="1100" i="1" dirty="0"/>
              <a:t> </a:t>
            </a:r>
            <a:r>
              <a:rPr lang="nl-BE" sz="1100" i="1" dirty="0" err="1"/>
              <a:t>statistics</a:t>
            </a:r>
            <a:r>
              <a:rPr lang="nl-BE" sz="1100" i="1" dirty="0"/>
              <a:t> </a:t>
            </a:r>
            <a:r>
              <a:rPr lang="nl-BE" sz="1100" i="1" dirty="0" err="1"/>
              <a:t>concerning</a:t>
            </a:r>
            <a:r>
              <a:rPr lang="nl-BE" sz="1100" i="1" dirty="0"/>
              <a:t> </a:t>
            </a:r>
            <a:r>
              <a:rPr lang="nl-BE" sz="1100" i="1" dirty="0" err="1"/>
              <a:t>the</a:t>
            </a:r>
            <a:r>
              <a:rPr lang="nl-BE" sz="1100" i="1" dirty="0"/>
              <a:t> </a:t>
            </a:r>
            <a:r>
              <a:rPr lang="nl-BE" sz="1100" i="1" dirty="0" err="1"/>
              <a:t>calculation</a:t>
            </a:r>
            <a:endParaRPr lang="nl-BE" sz="11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73833DE-01DC-4DBC-AC0D-167CC8010FFD}"/>
              </a:ext>
            </a:extLst>
          </p:cNvPr>
          <p:cNvSpPr/>
          <p:nvPr/>
        </p:nvSpPr>
        <p:spPr>
          <a:xfrm>
            <a:off x="9406742" y="5156299"/>
            <a:ext cx="141897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/>
              <a:t>statistics.png</a:t>
            </a:r>
          </a:p>
          <a:p>
            <a:pPr algn="ctr"/>
            <a:r>
              <a:rPr lang="nl-BE" sz="1100" i="1" dirty="0" err="1"/>
              <a:t>All</a:t>
            </a:r>
            <a:r>
              <a:rPr lang="nl-BE" sz="1100" i="1" dirty="0"/>
              <a:t> </a:t>
            </a:r>
            <a:r>
              <a:rPr lang="nl-BE" sz="1100" i="1" dirty="0" err="1"/>
              <a:t>statistics</a:t>
            </a:r>
            <a:r>
              <a:rPr lang="nl-BE" sz="1100" i="1" dirty="0"/>
              <a:t> in </a:t>
            </a:r>
            <a:r>
              <a:rPr lang="nl-BE" sz="1100" i="1" dirty="0" err="1"/>
              <a:t>figures</a:t>
            </a:r>
            <a:endParaRPr lang="nl-BE" sz="11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08A4504-F491-4A37-8A2C-07DEA863EDD7}"/>
              </a:ext>
            </a:extLst>
          </p:cNvPr>
          <p:cNvSpPr/>
          <p:nvPr/>
        </p:nvSpPr>
        <p:spPr>
          <a:xfrm>
            <a:off x="8181534" y="5785529"/>
            <a:ext cx="390203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1100" dirty="0" err="1"/>
              <a:t>image_spots</a:t>
            </a:r>
            <a:endParaRPr lang="nl-BE" sz="1100" dirty="0"/>
          </a:p>
          <a:p>
            <a:pPr algn="ctr"/>
            <a:r>
              <a:rPr lang="nl-BE" sz="1100" i="1" dirty="0" err="1"/>
              <a:t>Overlapped</a:t>
            </a:r>
            <a:r>
              <a:rPr lang="nl-BE" sz="1100" i="1" dirty="0"/>
              <a:t> </a:t>
            </a:r>
            <a:r>
              <a:rPr lang="nl-BE" sz="1100" i="1" dirty="0" err="1"/>
              <a:t>regions</a:t>
            </a:r>
            <a:r>
              <a:rPr lang="nl-BE" sz="1100" i="1" dirty="0"/>
              <a:t> </a:t>
            </a:r>
            <a:r>
              <a:rPr lang="nl-BE" sz="1100" i="1" dirty="0" err="1"/>
              <a:t>for</a:t>
            </a:r>
            <a:r>
              <a:rPr lang="nl-BE" sz="1100" i="1" dirty="0"/>
              <a:t> </a:t>
            </a:r>
            <a:r>
              <a:rPr lang="nl-BE" sz="1100" i="1" dirty="0" err="1"/>
              <a:t>each</a:t>
            </a:r>
            <a:r>
              <a:rPr lang="nl-BE" sz="1100" i="1" dirty="0"/>
              <a:t> pair of images </a:t>
            </a:r>
            <a:r>
              <a:rPr lang="nl-BE" sz="1100" i="1" dirty="0" err="1"/>
              <a:t>with</a:t>
            </a:r>
            <a:r>
              <a:rPr lang="nl-BE" sz="1100" i="1" dirty="0"/>
              <a:t> </a:t>
            </a:r>
            <a:r>
              <a:rPr lang="nl-BE" sz="1100" i="1" dirty="0" err="1"/>
              <a:t>mean</a:t>
            </a:r>
            <a:r>
              <a:rPr lang="nl-BE" sz="1100" i="1" dirty="0"/>
              <a:t> </a:t>
            </a:r>
            <a:r>
              <a:rPr lang="nl-BE" sz="1100" i="1" dirty="0" err="1"/>
              <a:t>thresholds</a:t>
            </a:r>
            <a:endParaRPr lang="nl-BE" sz="1100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056B11B-6B45-496A-9D65-E4F1BB5DB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352" y="536129"/>
            <a:ext cx="2184695" cy="846805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150A32B2-BE43-92C3-0D90-C0C7BE9F92F4}"/>
              </a:ext>
            </a:extLst>
          </p:cNvPr>
          <p:cNvSpPr txBox="1"/>
          <p:nvPr/>
        </p:nvSpPr>
        <p:spPr>
          <a:xfrm>
            <a:off x="337335" y="66280"/>
            <a:ext cx="1915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Simplified </a:t>
            </a:r>
          </a:p>
          <a:p>
            <a:pPr algn="ctr"/>
            <a:r>
              <a:rPr lang="en-US" b="1" dirty="0"/>
              <a:t>surrogate pipeline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66302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5457</TotalTime>
  <Words>493</Words>
  <Application>Microsoft Office PowerPoint</Application>
  <PresentationFormat>Breedbeeld</PresentationFormat>
  <Paragraphs>126</Paragraphs>
  <Slides>4</Slides>
  <Notes>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Cydric Geyskens</dc:creator>
  <cp:lastModifiedBy>Cydric Geyskens</cp:lastModifiedBy>
  <cp:revision>69</cp:revision>
  <dcterms:created xsi:type="dcterms:W3CDTF">2023-06-26T13:04:35Z</dcterms:created>
  <dcterms:modified xsi:type="dcterms:W3CDTF">2023-08-23T17:16:24Z</dcterms:modified>
</cp:coreProperties>
</file>