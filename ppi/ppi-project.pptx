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3867FB6-3614-4446-A537-B153597F3F7D}" type="datetimeFigureOut">
              <a:rPr lang="nl-NL" smtClean="0"/>
              <a:t>20-9-2023</a:t>
            </a:fld>
            <a:endParaRPr lang="nl-NL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A6D7F69-71E7-48DB-9B1D-444B6CD7964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088458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AEF69F4-BFF2-55ED-E1BA-75BD7566BD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0A544DE5-E251-B0EF-E717-1228B309A8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98AFDA31-0BC1-C954-12DC-18F4098E20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57F31-EF9F-422B-9EBC-20B94937EE59}" type="datetimeFigureOut">
              <a:rPr lang="nl-NL" smtClean="0"/>
              <a:t>20-9-2023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3516E2F-22B9-503F-7056-83271118EA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31C3BB70-2ECA-C042-0146-1F7A7F06F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76356-AADF-4629-B8B1-6957A41DA8C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264881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7B1AA8E-FCBA-8609-1085-47171CF52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51D6CD12-5DF3-2968-9E20-5372FE799E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52D542FA-F712-EAC0-2731-AF5BBD8013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57F31-EF9F-422B-9EBC-20B94937EE59}" type="datetimeFigureOut">
              <a:rPr lang="nl-NL" smtClean="0"/>
              <a:t>20-9-2023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71DAB6E3-64B4-A602-E4DC-B315C751B3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1B1BC4CD-BE05-36E2-DABF-01D1F7B5B7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76356-AADF-4629-B8B1-6957A41DA8C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798931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F427B9-2574-5597-DD8B-32EF8C27F9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00963F2E-7FAC-4E00-969B-45057365CF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1051175-CD7F-5283-C161-185DC25B85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57F31-EF9F-422B-9EBC-20B94937EE59}" type="datetimeFigureOut">
              <a:rPr lang="nl-NL" smtClean="0"/>
              <a:t>20-9-2023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198FD06B-919E-35D6-12C4-42834E133A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52CB074-0E6D-B7E3-9119-0987C47C75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76356-AADF-4629-B8B1-6957A41DA8C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395327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D0B8EE0-17B6-B118-ACB2-A907EF8723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97682181-F615-11BD-0B18-17529B59B1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A00511BF-D211-67DB-42EF-F700C29D6E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8156EB9C-9C9D-5EF1-67DA-B5871B70AC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57F31-EF9F-422B-9EBC-20B94937EE59}" type="datetimeFigureOut">
              <a:rPr lang="nl-NL" smtClean="0"/>
              <a:t>20-9-2023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E789D7F1-A91D-DF7D-EA47-7F0B4861D7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95635608-83FF-9758-D468-208E0B8B1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76356-AADF-4629-B8B1-6957A41DA8C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414915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42F5989-B444-767D-3907-8A8AA6E587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E03476A7-0F2D-8D64-399C-6DA015562A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AAB57253-F0A6-9F47-4098-581B09AC9E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2CFD3F7E-69EB-1822-93D4-9E8DD751F1C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B3106337-37A2-76D8-BE90-4F019B8B5AF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D1C2C0F7-F28A-1B6C-E5A6-F6716D081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57F31-EF9F-422B-9EBC-20B94937EE59}" type="datetimeFigureOut">
              <a:rPr lang="nl-NL" smtClean="0"/>
              <a:t>20-9-2023</a:t>
            </a:fld>
            <a:endParaRPr lang="nl-NL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4217B5F0-C609-636C-7BB3-08F566722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ACAA689F-11BE-C066-21E3-07F10C3FC6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76356-AADF-4629-B8B1-6957A41DA8C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798093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1E24271-A7B8-2962-5A48-5551F68E9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FBB46798-BDD7-3666-6B7D-C9B06A060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57F31-EF9F-422B-9EBC-20B94937EE59}" type="datetimeFigureOut">
              <a:rPr lang="nl-NL" smtClean="0"/>
              <a:t>20-9-2023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374E5680-E25F-2414-4DB0-6FF5C7AE2B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0945C231-228B-84E0-0D05-600ED42C7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76356-AADF-4629-B8B1-6957A41DA8C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163890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034831F9-FDF4-24D5-819C-FE84F0E7E1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57F31-EF9F-422B-9EBC-20B94937EE59}" type="datetimeFigureOut">
              <a:rPr lang="nl-NL" smtClean="0"/>
              <a:t>20-9-2023</a:t>
            </a:fld>
            <a:endParaRPr lang="nl-NL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9F8D4EEE-7E14-E781-2EFA-89AE2B0C86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2B2150CA-231A-FB85-D9ED-7837678B7D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76356-AADF-4629-B8B1-6957A41DA8C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801492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4A0CC5-2556-77B6-661E-B017607B2A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569DEB92-397E-4132-FF56-4FAD6F14F3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E2F02FEE-377A-24B5-D3EE-E0B2779B57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FE8107CA-6678-2F44-07E9-74E75CC716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57F31-EF9F-422B-9EBC-20B94937EE59}" type="datetimeFigureOut">
              <a:rPr lang="nl-NL" smtClean="0"/>
              <a:t>20-9-2023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7AEFA487-7DA4-82D7-321D-258CDC1972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EE560B82-6353-5CB5-8226-B12A660A0B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76356-AADF-4629-B8B1-6957A41DA8C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61518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1185C42-7F71-60DD-E67C-396DEDDF14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C21F3AFD-E792-BBEC-5143-F0E85499EB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41E92C74-0942-2472-64F3-606E5CC4D5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7DD4ADE9-F23A-BB7C-A61B-BA5DB4459A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57F31-EF9F-422B-9EBC-20B94937EE59}" type="datetimeFigureOut">
              <a:rPr lang="nl-NL" smtClean="0"/>
              <a:t>20-9-2023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BB0F3520-8003-304D-3F81-AFD3392816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A00696BF-DD8D-F63A-5D5E-626B603EE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76356-AADF-4629-B8B1-6957A41DA8C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948708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78CA6C-11AA-5EB9-8F10-A03B826CB1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384D16BE-4240-7F55-C002-02F5B30834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7BB1B574-EDEE-C3B0-C750-8EA6D5F9E1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57F31-EF9F-422B-9EBC-20B94937EE59}" type="datetimeFigureOut">
              <a:rPr lang="nl-NL" smtClean="0"/>
              <a:t>20-9-2023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1852DA6-305D-2C24-D7C2-ECDA7AE1D8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CA59B0E0-CBC7-B718-4C4F-316AA4F1CC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76356-AADF-4629-B8B1-6957A41DA8C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8163802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7547E34A-9E1D-7167-9BF3-30E8B83C618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BEE8C661-ED76-9587-2A02-A01D24DF33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3A0EDD1A-BEB9-F9A5-9653-86325BFF70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57F31-EF9F-422B-9EBC-20B94937EE59}" type="datetimeFigureOut">
              <a:rPr lang="nl-NL" smtClean="0"/>
              <a:t>20-9-2023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1B85858-EFA5-A290-002C-ED35664F4E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135F2D0-FCAB-53DF-0920-A204B36B11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76356-AADF-4629-B8B1-6957A41DA8C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378826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ADFC68FB-1CEF-2750-57C4-6BFE037E19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2F5D2813-5F8A-3169-9640-7E136372E1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F4642CE-CC29-0AF5-9311-7EF81AC67F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957F31-EF9F-422B-9EBC-20B94937EE59}" type="datetimeFigureOut">
              <a:rPr lang="nl-NL" smtClean="0"/>
              <a:t>20-9-2023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EB70C139-8D58-3F33-BE5E-F362CC6CE0F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35F95C23-1A5B-3232-F95A-026515A038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CE76356-AADF-4629-B8B1-6957A41DA8C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273705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kstvak 3">
            <a:extLst>
              <a:ext uri="{FF2B5EF4-FFF2-40B4-BE49-F238E27FC236}">
                <a16:creationId xmlns:a16="http://schemas.microsoft.com/office/drawing/2014/main" id="{11B53E2A-8006-F2CB-6A5C-9C9532A08ED8}"/>
              </a:ext>
            </a:extLst>
          </p:cNvPr>
          <p:cNvSpPr txBox="1"/>
          <p:nvPr/>
        </p:nvSpPr>
        <p:spPr>
          <a:xfrm>
            <a:off x="4943403" y="1316850"/>
            <a:ext cx="32175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data bases (experimental interactions)</a:t>
            </a:r>
            <a:endParaRPr lang="nl-NL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kstvak 4">
            <a:extLst>
              <a:ext uri="{FF2B5EF4-FFF2-40B4-BE49-F238E27FC236}">
                <a16:creationId xmlns:a16="http://schemas.microsoft.com/office/drawing/2014/main" id="{98C716B5-641E-BEB1-0E10-97B04D6FBEB8}"/>
              </a:ext>
            </a:extLst>
          </p:cNvPr>
          <p:cNvSpPr txBox="1"/>
          <p:nvPr/>
        </p:nvSpPr>
        <p:spPr>
          <a:xfrm>
            <a:off x="4943403" y="1704418"/>
            <a:ext cx="25218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docking (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AlphaFold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-Multimer)</a:t>
            </a:r>
            <a:endParaRPr lang="nl-NL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kstvak 5">
            <a:extLst>
              <a:ext uri="{FF2B5EF4-FFF2-40B4-BE49-F238E27FC236}">
                <a16:creationId xmlns:a16="http://schemas.microsoft.com/office/drawing/2014/main" id="{32BBCCC5-B6CE-C132-4C2F-6E41F45EE488}"/>
              </a:ext>
            </a:extLst>
          </p:cNvPr>
          <p:cNvSpPr txBox="1"/>
          <p:nvPr/>
        </p:nvSpPr>
        <p:spPr>
          <a:xfrm>
            <a:off x="3775455" y="1507322"/>
            <a:ext cx="5565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PPI</a:t>
            </a:r>
            <a:endParaRPr lang="nl-NL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25BD6156-AFED-0ABF-9FE5-42083C3CE109}"/>
              </a:ext>
            </a:extLst>
          </p:cNvPr>
          <p:cNvSpPr txBox="1"/>
          <p:nvPr/>
        </p:nvSpPr>
        <p:spPr>
          <a:xfrm>
            <a:off x="3587096" y="3750422"/>
            <a:ext cx="12362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GO terms</a:t>
            </a:r>
            <a:endParaRPr lang="nl-NL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kstvak 7">
            <a:extLst>
              <a:ext uri="{FF2B5EF4-FFF2-40B4-BE49-F238E27FC236}">
                <a16:creationId xmlns:a16="http://schemas.microsoft.com/office/drawing/2014/main" id="{7A352AFF-8399-FEB2-062A-1CF4728706E2}"/>
              </a:ext>
            </a:extLst>
          </p:cNvPr>
          <p:cNvSpPr txBox="1"/>
          <p:nvPr/>
        </p:nvSpPr>
        <p:spPr>
          <a:xfrm>
            <a:off x="4943403" y="3781200"/>
            <a:ext cx="59554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Check GO terms (phagocytosis, synapse phagocytosis, … ) of interactors</a:t>
            </a:r>
            <a:endParaRPr lang="nl-NL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kstvak 8">
            <a:extLst>
              <a:ext uri="{FF2B5EF4-FFF2-40B4-BE49-F238E27FC236}">
                <a16:creationId xmlns:a16="http://schemas.microsoft.com/office/drawing/2014/main" id="{7AD4FFAC-B3BC-F011-65EB-921E9E8D7454}"/>
              </a:ext>
            </a:extLst>
          </p:cNvPr>
          <p:cNvSpPr txBox="1"/>
          <p:nvPr/>
        </p:nvSpPr>
        <p:spPr>
          <a:xfrm>
            <a:off x="2457428" y="331581"/>
            <a:ext cx="713689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Finding computational relevant VCAM1 interactors (</a:t>
            </a:r>
            <a:r>
              <a:rPr lang="en-US" sz="2000" i="1" dirty="0">
                <a:latin typeface="Arial" panose="020B0604020202020204" pitchFamily="34" charset="0"/>
                <a:cs typeface="Arial" panose="020B0604020202020204" pitchFamily="34" charset="0"/>
              </a:rPr>
              <a:t>heatmap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nl-NL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ekstvak 1">
            <a:extLst>
              <a:ext uri="{FF2B5EF4-FFF2-40B4-BE49-F238E27FC236}">
                <a16:creationId xmlns:a16="http://schemas.microsoft.com/office/drawing/2014/main" id="{FDDE8009-B8D8-2698-C458-F224561ECC6E}"/>
              </a:ext>
            </a:extLst>
          </p:cNvPr>
          <p:cNvSpPr txBox="1"/>
          <p:nvPr/>
        </p:nvSpPr>
        <p:spPr>
          <a:xfrm>
            <a:off x="2540181" y="2423366"/>
            <a:ext cx="24416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Cell-type expression</a:t>
            </a:r>
            <a:endParaRPr lang="nl-NL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0DE6FB12-86A8-89F4-3CFE-5F541C3C773A}"/>
              </a:ext>
            </a:extLst>
          </p:cNvPr>
          <p:cNvSpPr txBox="1"/>
          <p:nvPr/>
        </p:nvSpPr>
        <p:spPr>
          <a:xfrm>
            <a:off x="4943403" y="2490537"/>
            <a:ext cx="700384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Checking cell-type expression (microglia &amp; OPCs)  from Blanca and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Danies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single-cell</a:t>
            </a:r>
            <a:endParaRPr lang="nl-NL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kstvak 9">
            <a:extLst>
              <a:ext uri="{FF2B5EF4-FFF2-40B4-BE49-F238E27FC236}">
                <a16:creationId xmlns:a16="http://schemas.microsoft.com/office/drawing/2014/main" id="{C0521906-2307-8328-7157-3F35D6CA29BD}"/>
              </a:ext>
            </a:extLst>
          </p:cNvPr>
          <p:cNvSpPr txBox="1"/>
          <p:nvPr/>
        </p:nvSpPr>
        <p:spPr>
          <a:xfrm>
            <a:off x="1929207" y="2878865"/>
            <a:ext cx="3108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Developmental expression</a:t>
            </a:r>
            <a:endParaRPr lang="nl-NL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kstvak 10">
            <a:extLst>
              <a:ext uri="{FF2B5EF4-FFF2-40B4-BE49-F238E27FC236}">
                <a16:creationId xmlns:a16="http://schemas.microsoft.com/office/drawing/2014/main" id="{A7E944EB-17EA-1B7A-EA23-9A0A14D05944}"/>
              </a:ext>
            </a:extLst>
          </p:cNvPr>
          <p:cNvSpPr txBox="1"/>
          <p:nvPr/>
        </p:nvSpPr>
        <p:spPr>
          <a:xfrm>
            <a:off x="4943403" y="2940420"/>
            <a:ext cx="582723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Checking developmental expression from Blanca and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Danies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single-cell</a:t>
            </a:r>
            <a:endParaRPr lang="nl-NL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kstvak 13">
            <a:extLst>
              <a:ext uri="{FF2B5EF4-FFF2-40B4-BE49-F238E27FC236}">
                <a16:creationId xmlns:a16="http://schemas.microsoft.com/office/drawing/2014/main" id="{8154976C-2BB0-85F8-0D1D-6B5070B8C5EF}"/>
              </a:ext>
            </a:extLst>
          </p:cNvPr>
          <p:cNvSpPr txBox="1"/>
          <p:nvPr/>
        </p:nvSpPr>
        <p:spPr>
          <a:xfrm>
            <a:off x="3407560" y="4326922"/>
            <a:ext cx="14157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Public data</a:t>
            </a:r>
            <a:endParaRPr lang="nl-NL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kstvak 14">
            <a:extLst>
              <a:ext uri="{FF2B5EF4-FFF2-40B4-BE49-F238E27FC236}">
                <a16:creationId xmlns:a16="http://schemas.microsoft.com/office/drawing/2014/main" id="{87081870-9BA9-3346-D4EC-0F24CF73EF39}"/>
              </a:ext>
            </a:extLst>
          </p:cNvPr>
          <p:cNvSpPr txBox="1"/>
          <p:nvPr/>
        </p:nvSpPr>
        <p:spPr>
          <a:xfrm>
            <a:off x="4942379" y="4326922"/>
            <a:ext cx="682290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Reanalyzing public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RNAseq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data related to synapse phagocytosis</a:t>
            </a:r>
          </a:p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- </a:t>
            </a:r>
            <a:r>
              <a:rPr lang="da-DK" sz="1400" b="0" i="0" dirty="0">
                <a:effectLst/>
                <a:latin typeface="Roboto" panose="02000000000000000000" pitchFamily="2" charset="0"/>
              </a:rPr>
              <a:t>danyang et al. 2022 Mg tau-GFP+ and tau GFP-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- </a:t>
            </a:r>
            <a:r>
              <a:rPr lang="en-US" sz="1400" b="0" i="0" dirty="0" err="1">
                <a:effectLst/>
                <a:latin typeface="Roboto" panose="02000000000000000000" pitchFamily="2" charset="0"/>
              </a:rPr>
              <a:t>danyang</a:t>
            </a:r>
            <a:r>
              <a:rPr lang="en-US" sz="1400" b="0" i="0" dirty="0">
                <a:effectLst/>
                <a:latin typeface="Roboto" panose="02000000000000000000" pitchFamily="2" charset="0"/>
              </a:rPr>
              <a:t> et al. 2022 Mg high and low TRPM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- </a:t>
            </a:r>
            <a:r>
              <a:rPr lang="de-DE" sz="1400" b="0" i="0" dirty="0" err="1">
                <a:effectLst/>
                <a:latin typeface="Roboto" panose="02000000000000000000" pitchFamily="2" charset="0"/>
              </a:rPr>
              <a:t>grubman</a:t>
            </a:r>
            <a:r>
              <a:rPr lang="de-DE" sz="1400" b="0" i="0" dirty="0">
                <a:effectLst/>
                <a:latin typeface="Roboto" panose="02000000000000000000" pitchFamily="2" charset="0"/>
              </a:rPr>
              <a:t> et al. 2021 Mg Ab </a:t>
            </a:r>
            <a:r>
              <a:rPr lang="de-DE" sz="1400" b="0" i="0" dirty="0" err="1">
                <a:effectLst/>
                <a:latin typeface="Roboto" panose="02000000000000000000" pitchFamily="2" charset="0"/>
              </a:rPr>
              <a:t>phago</a:t>
            </a:r>
            <a:endParaRPr lang="de-DE" sz="1400" b="0" i="0" dirty="0">
              <a:effectLst/>
              <a:latin typeface="Roboto" panose="02000000000000000000" pitchFamily="2" charset="0"/>
            </a:endParaRPr>
          </a:p>
          <a:p>
            <a:r>
              <a:rPr lang="en-US" sz="1400" b="0" i="0" dirty="0">
                <a:effectLst/>
                <a:latin typeface="Roboto" panose="02000000000000000000" pitchFamily="2" charset="0"/>
              </a:rPr>
              <a:t>- Masuda et al. 2019 Mg subclasses throughout development</a:t>
            </a:r>
          </a:p>
          <a:p>
            <a:r>
              <a:rPr lang="nl-NL" sz="1400" b="0" i="0" dirty="0">
                <a:effectLst/>
                <a:latin typeface="Roboto" panose="02000000000000000000" pitchFamily="2" charset="0"/>
              </a:rPr>
              <a:t>- Hammond et al. 2019 Mg over development</a:t>
            </a:r>
            <a:endParaRPr lang="en-US" sz="1400" dirty="0">
              <a:latin typeface="Roboto" panose="02000000000000000000" pitchFamily="2" charset="0"/>
            </a:endParaRPr>
          </a:p>
          <a:p>
            <a:r>
              <a:rPr lang="en-US" sz="1400" b="0" i="0" dirty="0">
                <a:effectLst/>
                <a:latin typeface="Roboto" panose="02000000000000000000" pitchFamily="2" charset="0"/>
              </a:rPr>
              <a:t>- Keren-</a:t>
            </a:r>
            <a:r>
              <a:rPr lang="en-US" sz="1400" b="0" i="0" dirty="0" err="1">
                <a:effectLst/>
                <a:latin typeface="Roboto" panose="02000000000000000000" pitchFamily="2" charset="0"/>
              </a:rPr>
              <a:t>shaul</a:t>
            </a:r>
            <a:r>
              <a:rPr lang="en-US" sz="1400" b="0" i="0" dirty="0">
                <a:effectLst/>
                <a:latin typeface="Roboto" panose="02000000000000000000" pitchFamily="2" charset="0"/>
              </a:rPr>
              <a:t> et al. 2017. DAM microglia (because the phagocytic pathway is induced in these type of microglia in AD context)</a:t>
            </a:r>
          </a:p>
          <a:p>
            <a:r>
              <a:rPr lang="it-IT" sz="1400" b="0" i="0" dirty="0">
                <a:effectLst/>
                <a:latin typeface="Roboto" panose="02000000000000000000" pitchFamily="2" charset="0"/>
              </a:rPr>
              <a:t>- Li et al. 2019. Microglia developement</a:t>
            </a:r>
            <a:endParaRPr lang="nl-NL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Rechthoek: afgeronde hoeken 16">
            <a:extLst>
              <a:ext uri="{FF2B5EF4-FFF2-40B4-BE49-F238E27FC236}">
                <a16:creationId xmlns:a16="http://schemas.microsoft.com/office/drawing/2014/main" id="{DDF4FC3B-F9FC-D6EB-FEEA-091918D07346}"/>
              </a:ext>
            </a:extLst>
          </p:cNvPr>
          <p:cNvSpPr/>
          <p:nvPr/>
        </p:nvSpPr>
        <p:spPr>
          <a:xfrm>
            <a:off x="3587096" y="1170039"/>
            <a:ext cx="4672001" cy="1009216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8" name="Rechthoek: afgeronde hoeken 17">
            <a:extLst>
              <a:ext uri="{FF2B5EF4-FFF2-40B4-BE49-F238E27FC236}">
                <a16:creationId xmlns:a16="http://schemas.microsoft.com/office/drawing/2014/main" id="{28A88665-BF3E-E3F3-AB00-50BE9B4D8B4B}"/>
              </a:ext>
            </a:extLst>
          </p:cNvPr>
          <p:cNvSpPr/>
          <p:nvPr/>
        </p:nvSpPr>
        <p:spPr>
          <a:xfrm>
            <a:off x="1929207" y="2374257"/>
            <a:ext cx="9938328" cy="1009216"/>
          </a:xfrm>
          <a:prstGeom prst="round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9" name="Rechthoek: afgeronde hoeken 18">
            <a:extLst>
              <a:ext uri="{FF2B5EF4-FFF2-40B4-BE49-F238E27FC236}">
                <a16:creationId xmlns:a16="http://schemas.microsoft.com/office/drawing/2014/main" id="{7995BDD8-DC06-089B-52B7-D5879A535AFE}"/>
              </a:ext>
            </a:extLst>
          </p:cNvPr>
          <p:cNvSpPr/>
          <p:nvPr/>
        </p:nvSpPr>
        <p:spPr>
          <a:xfrm>
            <a:off x="1929207" y="3615145"/>
            <a:ext cx="9938328" cy="2743101"/>
          </a:xfrm>
          <a:prstGeom prst="roundRect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20" name="Tekstvak 19">
            <a:extLst>
              <a:ext uri="{FF2B5EF4-FFF2-40B4-BE49-F238E27FC236}">
                <a16:creationId xmlns:a16="http://schemas.microsoft.com/office/drawing/2014/main" id="{F2486826-1AB8-03B1-3215-93366066623A}"/>
              </a:ext>
            </a:extLst>
          </p:cNvPr>
          <p:cNvSpPr txBox="1"/>
          <p:nvPr/>
        </p:nvSpPr>
        <p:spPr>
          <a:xfrm>
            <a:off x="98322" y="1306345"/>
            <a:ext cx="15686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1"/>
                </a:solidFill>
              </a:rPr>
              <a:t>Interactors</a:t>
            </a:r>
            <a:endParaRPr lang="nl-NL" sz="2400" b="1" dirty="0">
              <a:solidFill>
                <a:schemeClr val="accent1"/>
              </a:solidFill>
            </a:endParaRPr>
          </a:p>
        </p:txBody>
      </p:sp>
      <p:sp>
        <p:nvSpPr>
          <p:cNvPr id="21" name="Tekstvak 20">
            <a:extLst>
              <a:ext uri="{FF2B5EF4-FFF2-40B4-BE49-F238E27FC236}">
                <a16:creationId xmlns:a16="http://schemas.microsoft.com/office/drawing/2014/main" id="{0D51B59B-4508-8435-2349-73BEB72B7A20}"/>
              </a:ext>
            </a:extLst>
          </p:cNvPr>
          <p:cNvSpPr txBox="1"/>
          <p:nvPr/>
        </p:nvSpPr>
        <p:spPr>
          <a:xfrm>
            <a:off x="55021" y="2417200"/>
            <a:ext cx="16152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6"/>
                </a:solidFill>
              </a:rPr>
              <a:t>Descriptive</a:t>
            </a:r>
            <a:endParaRPr lang="nl-NL" sz="2400" b="1" dirty="0">
              <a:solidFill>
                <a:schemeClr val="accent6"/>
              </a:solidFill>
            </a:endParaRPr>
          </a:p>
        </p:txBody>
      </p:sp>
      <p:sp>
        <p:nvSpPr>
          <p:cNvPr id="22" name="Tekstvak 21">
            <a:extLst>
              <a:ext uri="{FF2B5EF4-FFF2-40B4-BE49-F238E27FC236}">
                <a16:creationId xmlns:a16="http://schemas.microsoft.com/office/drawing/2014/main" id="{F7E0AD72-7A29-9B39-A72D-95D2FCDCDDA1}"/>
              </a:ext>
            </a:extLst>
          </p:cNvPr>
          <p:cNvSpPr txBox="1"/>
          <p:nvPr/>
        </p:nvSpPr>
        <p:spPr>
          <a:xfrm>
            <a:off x="106097" y="4591465"/>
            <a:ext cx="15247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2"/>
                </a:solidFill>
              </a:rPr>
              <a:t>Functional</a:t>
            </a:r>
            <a:endParaRPr lang="nl-NL" sz="2400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93617880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157</Words>
  <Application>Microsoft Office PowerPoint</Application>
  <PresentationFormat>Breedbeeld</PresentationFormat>
  <Paragraphs>22</Paragraphs>
  <Slides>1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4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Roboto</vt:lpstr>
      <vt:lpstr>Kantoorthema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PowerPoint-presentatie</dc:title>
  <dc:creator>Cydric Geyskens</dc:creator>
  <cp:lastModifiedBy>Cydric Geyskens</cp:lastModifiedBy>
  <cp:revision>17</cp:revision>
  <dcterms:created xsi:type="dcterms:W3CDTF">2023-09-20T10:49:24Z</dcterms:created>
  <dcterms:modified xsi:type="dcterms:W3CDTF">2023-09-20T11:07:25Z</dcterms:modified>
</cp:coreProperties>
</file>