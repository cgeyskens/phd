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319" r:id="rId3"/>
    <p:sldId id="320" r:id="rId4"/>
    <p:sldId id="256" r:id="rId5"/>
    <p:sldId id="314" r:id="rId6"/>
    <p:sldId id="313" r:id="rId7"/>
    <p:sldId id="318" r:id="rId8"/>
    <p:sldId id="317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71C"/>
    <a:srgbClr val="BDA0D3"/>
    <a:srgbClr val="4472C4"/>
    <a:srgbClr val="9CC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17-10-2023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jl: punthaak 26">
            <a:extLst>
              <a:ext uri="{FF2B5EF4-FFF2-40B4-BE49-F238E27FC236}">
                <a16:creationId xmlns:a16="http://schemas.microsoft.com/office/drawing/2014/main" id="{0378F427-0670-26D3-6A03-A7AA41A832D0}"/>
              </a:ext>
            </a:extLst>
          </p:cNvPr>
          <p:cNvSpPr/>
          <p:nvPr/>
        </p:nvSpPr>
        <p:spPr>
          <a:xfrm>
            <a:off x="3217365" y="2561232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CD32B17-6FCB-D59D-DA92-835CB358FCF5}"/>
              </a:ext>
            </a:extLst>
          </p:cNvPr>
          <p:cNvSpPr txBox="1"/>
          <p:nvPr/>
        </p:nvSpPr>
        <p:spPr>
          <a:xfrm>
            <a:off x="2437764" y="156479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0CD170B-D45E-CEE4-7603-33A6EDFC8E60}"/>
              </a:ext>
            </a:extLst>
          </p:cNvPr>
          <p:cNvSpPr txBox="1"/>
          <p:nvPr/>
        </p:nvSpPr>
        <p:spPr>
          <a:xfrm>
            <a:off x="3410880" y="3017765"/>
            <a:ext cx="117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IntAct</a:t>
            </a:r>
          </a:p>
          <a:p>
            <a:pPr algn="ctr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BioGrid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APID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D7B3E29-407F-3667-C77E-6834E6139659}"/>
              </a:ext>
            </a:extLst>
          </p:cNvPr>
          <p:cNvSpPr/>
          <p:nvPr/>
        </p:nvSpPr>
        <p:spPr>
          <a:xfrm>
            <a:off x="3226466" y="3023696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Pijl: vijfhoek 5">
            <a:extLst>
              <a:ext uri="{FF2B5EF4-FFF2-40B4-BE49-F238E27FC236}">
                <a16:creationId xmlns:a16="http://schemas.microsoft.com/office/drawing/2014/main" id="{A4C4E48D-9580-1F63-D40C-2B52449EE5CA}"/>
              </a:ext>
            </a:extLst>
          </p:cNvPr>
          <p:cNvSpPr/>
          <p:nvPr/>
        </p:nvSpPr>
        <p:spPr>
          <a:xfrm>
            <a:off x="1545146" y="2548929"/>
            <a:ext cx="1681320" cy="400110"/>
          </a:xfrm>
          <a:prstGeom prst="homePlate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932B1C5-9E63-A2B6-2C9F-26FEDF64B7ED}"/>
              </a:ext>
            </a:extLst>
          </p:cNvPr>
          <p:cNvSpPr txBox="1"/>
          <p:nvPr/>
        </p:nvSpPr>
        <p:spPr>
          <a:xfrm>
            <a:off x="1545545" y="2604942"/>
            <a:ext cx="1576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5B66F4E4-2501-F123-1C73-A861C9E61350}"/>
              </a:ext>
            </a:extLst>
          </p:cNvPr>
          <p:cNvSpPr/>
          <p:nvPr/>
        </p:nvSpPr>
        <p:spPr>
          <a:xfrm>
            <a:off x="4851843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Pijl: punthaak 9">
            <a:extLst>
              <a:ext uri="{FF2B5EF4-FFF2-40B4-BE49-F238E27FC236}">
                <a16:creationId xmlns:a16="http://schemas.microsoft.com/office/drawing/2014/main" id="{5F372E47-11EE-87FA-58FD-CB1BBE588E45}"/>
              </a:ext>
            </a:extLst>
          </p:cNvPr>
          <p:cNvSpPr/>
          <p:nvPr/>
        </p:nvSpPr>
        <p:spPr>
          <a:xfrm>
            <a:off x="4824228" y="2548929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B2B858A-3ADB-3873-5144-E932863766EF}"/>
              </a:ext>
            </a:extLst>
          </p:cNvPr>
          <p:cNvSpPr txBox="1"/>
          <p:nvPr/>
        </p:nvSpPr>
        <p:spPr>
          <a:xfrm>
            <a:off x="5149484" y="259930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verification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49007BB-B2F8-25FE-3EA8-BF585A318EA4}"/>
              </a:ext>
            </a:extLst>
          </p:cNvPr>
          <p:cNvSpPr txBox="1"/>
          <p:nvPr/>
        </p:nvSpPr>
        <p:spPr>
          <a:xfrm>
            <a:off x="4902214" y="3233208"/>
            <a:ext cx="1279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Experimental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F79542E7-04CD-86A8-3E8E-F7B24AF8CB0C}"/>
              </a:ext>
            </a:extLst>
          </p:cNvPr>
          <p:cNvSpPr/>
          <p:nvPr/>
        </p:nvSpPr>
        <p:spPr>
          <a:xfrm>
            <a:off x="6450359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Pijl: punthaak 14">
            <a:extLst>
              <a:ext uri="{FF2B5EF4-FFF2-40B4-BE49-F238E27FC236}">
                <a16:creationId xmlns:a16="http://schemas.microsoft.com/office/drawing/2014/main" id="{FD86459A-483A-8F8B-2F5E-2FF15B835D3C}"/>
              </a:ext>
            </a:extLst>
          </p:cNvPr>
          <p:cNvSpPr/>
          <p:nvPr/>
        </p:nvSpPr>
        <p:spPr>
          <a:xfrm>
            <a:off x="6421988" y="2554467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5893A5E-F90D-4FC6-DF64-F5B58C9340FE}"/>
              </a:ext>
            </a:extLst>
          </p:cNvPr>
          <p:cNvSpPr txBox="1"/>
          <p:nvPr/>
        </p:nvSpPr>
        <p:spPr>
          <a:xfrm>
            <a:off x="6622682" y="3233208"/>
            <a:ext cx="1120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Subcellular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A25A9AE1-9D1D-087F-63C5-B3E2683900EA}"/>
              </a:ext>
            </a:extLst>
          </p:cNvPr>
          <p:cNvSpPr txBox="1"/>
          <p:nvPr/>
        </p:nvSpPr>
        <p:spPr>
          <a:xfrm>
            <a:off x="6855315" y="2589556"/>
            <a:ext cx="740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UniProt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Pijl: punthaak 20">
            <a:extLst>
              <a:ext uri="{FF2B5EF4-FFF2-40B4-BE49-F238E27FC236}">
                <a16:creationId xmlns:a16="http://schemas.microsoft.com/office/drawing/2014/main" id="{55EEE148-E849-17B1-38A2-8D062F460BD0}"/>
              </a:ext>
            </a:extLst>
          </p:cNvPr>
          <p:cNvSpPr/>
          <p:nvPr/>
        </p:nvSpPr>
        <p:spPr>
          <a:xfrm>
            <a:off x="8019748" y="2555126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626E292F-F1F1-02D1-6607-80EA7C037E80}"/>
              </a:ext>
            </a:extLst>
          </p:cNvPr>
          <p:cNvSpPr txBox="1"/>
          <p:nvPr/>
        </p:nvSpPr>
        <p:spPr>
          <a:xfrm>
            <a:off x="8482732" y="2589555"/>
            <a:ext cx="6815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X et al.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BD01A2E5-6082-69A6-E260-6D161B6ADDB5}"/>
              </a:ext>
            </a:extLst>
          </p:cNvPr>
          <p:cNvSpPr/>
          <p:nvPr/>
        </p:nvSpPr>
        <p:spPr>
          <a:xfrm>
            <a:off x="8019748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7098B673-0FC2-F7D7-D51D-1D6FB8CCA246}"/>
              </a:ext>
            </a:extLst>
          </p:cNvPr>
          <p:cNvSpPr txBox="1"/>
          <p:nvPr/>
        </p:nvSpPr>
        <p:spPr>
          <a:xfrm>
            <a:off x="8137569" y="3233208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Hippocampal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expression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987AE45-5309-39BB-4701-B98F81F4507A}"/>
              </a:ext>
            </a:extLst>
          </p:cNvPr>
          <p:cNvSpPr/>
          <p:nvPr/>
        </p:nvSpPr>
        <p:spPr>
          <a:xfrm>
            <a:off x="1540546" y="3029774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6FB07696-84BF-0BC8-F590-95563850A388}"/>
              </a:ext>
            </a:extLst>
          </p:cNvPr>
          <p:cNvSpPr txBox="1"/>
          <p:nvPr/>
        </p:nvSpPr>
        <p:spPr>
          <a:xfrm>
            <a:off x="3447517" y="2599301"/>
            <a:ext cx="12346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Back-end data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5A9B650A-E056-F3F3-E34D-C87B114A7A62}"/>
              </a:ext>
            </a:extLst>
          </p:cNvPr>
          <p:cNvSpPr txBox="1"/>
          <p:nvPr/>
        </p:nvSpPr>
        <p:spPr>
          <a:xfrm>
            <a:off x="1470976" y="3170470"/>
            <a:ext cx="168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Benchmark: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Bajpai et al. 2020</a:t>
            </a:r>
          </a:p>
        </p:txBody>
      </p:sp>
    </p:spTree>
    <p:extLst>
      <p:ext uri="{BB962C8B-B14F-4D97-AF65-F5344CB8AC3E}">
        <p14:creationId xmlns:p14="http://schemas.microsoft.com/office/powerpoint/2010/main" val="179801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5F3ED51-1534-8D03-BECA-1E27FFEF0F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193" r="51286"/>
          <a:stretch/>
        </p:blipFill>
        <p:spPr>
          <a:xfrm rot="5400000">
            <a:off x="5143242" y="-1353236"/>
            <a:ext cx="430483" cy="10721344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82CAEBCE-9177-81A9-9863-FCA489CC821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499" t="6691" r="41557" b="81450"/>
          <a:stretch/>
        </p:blipFill>
        <p:spPr>
          <a:xfrm>
            <a:off x="633879" y="4920617"/>
            <a:ext cx="1215631" cy="127145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91D1BAE-6A05-6D87-8662-FCB18B6E32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666" r="60598"/>
          <a:stretch/>
        </p:blipFill>
        <p:spPr>
          <a:xfrm rot="5400000">
            <a:off x="4702157" y="-3587306"/>
            <a:ext cx="1312651" cy="1072134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05AE6B6-141C-F1A9-F6E6-9B09228F8E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318" r="56857"/>
          <a:stretch/>
        </p:blipFill>
        <p:spPr>
          <a:xfrm rot="5400000">
            <a:off x="5124650" y="-2538390"/>
            <a:ext cx="467666" cy="1072134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4733391-55B5-5941-86CC-79DBE64BE7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3014" r="54136"/>
          <a:stretch/>
        </p:blipFill>
        <p:spPr>
          <a:xfrm rot="5400000">
            <a:off x="5184312" y="-1866061"/>
            <a:ext cx="348343" cy="10721344"/>
          </a:xfrm>
          <a:prstGeom prst="rect">
            <a:avLst/>
          </a:prstGeom>
        </p:spPr>
      </p:pic>
      <p:sp>
        <p:nvSpPr>
          <p:cNvPr id="10" name="Rechthoek 9">
            <a:extLst>
              <a:ext uri="{FF2B5EF4-FFF2-40B4-BE49-F238E27FC236}">
                <a16:creationId xmlns:a16="http://schemas.microsoft.com/office/drawing/2014/main" id="{C296F3AD-538F-0739-7F47-C926C34DCC3B}"/>
              </a:ext>
            </a:extLst>
          </p:cNvPr>
          <p:cNvSpPr/>
          <p:nvPr/>
        </p:nvSpPr>
        <p:spPr>
          <a:xfrm>
            <a:off x="1935467" y="3668783"/>
            <a:ext cx="8783688" cy="1684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09EB5E0E-9ABC-5684-3A10-0E633ACDC083}"/>
              </a:ext>
            </a:extLst>
          </p:cNvPr>
          <p:cNvSpPr/>
          <p:nvPr/>
        </p:nvSpPr>
        <p:spPr>
          <a:xfrm>
            <a:off x="-13099" y="1884880"/>
            <a:ext cx="1939855" cy="2543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A2E2AA6-568F-6F31-ABDC-C392286751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19414" r="42082" b="69255"/>
          <a:stretch/>
        </p:blipFill>
        <p:spPr>
          <a:xfrm>
            <a:off x="1849510" y="4977221"/>
            <a:ext cx="1166949" cy="1214847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BF1BD778-02C9-FA84-C30B-CECCDA06D699}"/>
              </a:ext>
            </a:extLst>
          </p:cNvPr>
          <p:cNvSpPr txBox="1"/>
          <p:nvPr/>
        </p:nvSpPr>
        <p:spPr>
          <a:xfrm>
            <a:off x="78378" y="2377188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PPI databases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Rechte verbindingslijn 13">
            <a:extLst>
              <a:ext uri="{FF2B5EF4-FFF2-40B4-BE49-F238E27FC236}">
                <a16:creationId xmlns:a16="http://schemas.microsoft.com/office/drawing/2014/main" id="{7790E420-02CC-D059-F0B8-5F17AACD97A8}"/>
              </a:ext>
            </a:extLst>
          </p:cNvPr>
          <p:cNvCxnSpPr/>
          <p:nvPr/>
        </p:nvCxnSpPr>
        <p:spPr>
          <a:xfrm>
            <a:off x="1763455" y="2124891"/>
            <a:ext cx="0" cy="9312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Rechte verbindingslijn 14">
            <a:extLst>
              <a:ext uri="{FF2B5EF4-FFF2-40B4-BE49-F238E27FC236}">
                <a16:creationId xmlns:a16="http://schemas.microsoft.com/office/drawing/2014/main" id="{BAAEBD2E-E7AA-BBC7-9FB5-1002141135AB}"/>
              </a:ext>
            </a:extLst>
          </p:cNvPr>
          <p:cNvCxnSpPr>
            <a:cxnSpLocks/>
          </p:cNvCxnSpPr>
          <p:nvPr/>
        </p:nvCxnSpPr>
        <p:spPr>
          <a:xfrm>
            <a:off x="1763455" y="3291453"/>
            <a:ext cx="0" cy="377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EFC66ED4-5131-0ADC-643C-9C0151C6B389}"/>
              </a:ext>
            </a:extLst>
          </p:cNvPr>
          <p:cNvCxnSpPr>
            <a:cxnSpLocks/>
          </p:cNvCxnSpPr>
          <p:nvPr/>
        </p:nvCxnSpPr>
        <p:spPr>
          <a:xfrm>
            <a:off x="1763455" y="3818771"/>
            <a:ext cx="0" cy="377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kstvak 17">
            <a:extLst>
              <a:ext uri="{FF2B5EF4-FFF2-40B4-BE49-F238E27FC236}">
                <a16:creationId xmlns:a16="http://schemas.microsoft.com/office/drawing/2014/main" id="{49093CD2-C91A-54E1-2229-839B6CBC1024}"/>
              </a:ext>
            </a:extLst>
          </p:cNvPr>
          <p:cNvSpPr txBox="1"/>
          <p:nvPr/>
        </p:nvSpPr>
        <p:spPr>
          <a:xfrm>
            <a:off x="537148" y="3270676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E957F71D-CA5B-C904-7396-37456111BAB5}"/>
              </a:ext>
            </a:extLst>
          </p:cNvPr>
          <p:cNvSpPr txBox="1"/>
          <p:nvPr/>
        </p:nvSpPr>
        <p:spPr>
          <a:xfrm>
            <a:off x="82734" y="3805786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Danyang 2022</a:t>
            </a:r>
            <a:endParaRPr lang="nl-N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5A47E4B1-D717-2F42-F75C-69110A6185C5}"/>
              </a:ext>
            </a:extLst>
          </p:cNvPr>
          <p:cNvSpPr txBox="1"/>
          <p:nvPr/>
        </p:nvSpPr>
        <p:spPr>
          <a:xfrm>
            <a:off x="10577768" y="2056493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STRING – exp score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C68D8FED-DCB7-4BD7-577F-E5AFA4DF4B03}"/>
              </a:ext>
            </a:extLst>
          </p:cNvPr>
          <p:cNvSpPr txBox="1"/>
          <p:nvPr/>
        </p:nvSpPr>
        <p:spPr>
          <a:xfrm>
            <a:off x="10580661" y="2202456"/>
            <a:ext cx="16113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STRING – gen score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4BF62B85-4C00-E877-F24B-B5F683FD40A2}"/>
              </a:ext>
            </a:extLst>
          </p:cNvPr>
          <p:cNvSpPr txBox="1"/>
          <p:nvPr/>
        </p:nvSpPr>
        <p:spPr>
          <a:xfrm>
            <a:off x="10580661" y="3260238"/>
            <a:ext cx="1079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phagocytosis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101F1F03-242F-F3DA-D1C6-16185B9D4619}"/>
              </a:ext>
            </a:extLst>
          </p:cNvPr>
          <p:cNvSpPr txBox="1"/>
          <p:nvPr/>
        </p:nvSpPr>
        <p:spPr>
          <a:xfrm>
            <a:off x="10580661" y="3420770"/>
            <a:ext cx="13083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synapse pruning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4FF09DBF-B599-3BB6-520F-487A7A89BF64}"/>
              </a:ext>
            </a:extLst>
          </p:cNvPr>
          <p:cNvSpPr txBox="1"/>
          <p:nvPr/>
        </p:nvSpPr>
        <p:spPr>
          <a:xfrm>
            <a:off x="10580661" y="3772320"/>
            <a:ext cx="12731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log2Foldchange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617832D7-E072-8329-14B0-688B4A31B3AD}"/>
              </a:ext>
            </a:extLst>
          </p:cNvPr>
          <p:cNvSpPr txBox="1"/>
          <p:nvPr/>
        </p:nvSpPr>
        <p:spPr>
          <a:xfrm>
            <a:off x="10580661" y="3931634"/>
            <a:ext cx="1000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-log10(padj)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08CE483E-2CEB-5442-E4D4-D313D52BBB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31623" r="42082" b="57249"/>
          <a:stretch/>
        </p:blipFill>
        <p:spPr>
          <a:xfrm>
            <a:off x="3648615" y="4959805"/>
            <a:ext cx="1166949" cy="119307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45A308F6-32EE-BA76-A498-3B0A45FA88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43355" r="40635" b="43974"/>
          <a:stretch/>
        </p:blipFill>
        <p:spPr>
          <a:xfrm>
            <a:off x="4775806" y="4905376"/>
            <a:ext cx="1343828" cy="1358536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F6C2458D-72E9-F5C9-62DC-DAF7E33E21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55532" r="40635" b="31797"/>
          <a:stretch/>
        </p:blipFill>
        <p:spPr>
          <a:xfrm>
            <a:off x="6215320" y="4886372"/>
            <a:ext cx="1343828" cy="1358537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6862EF2-F373-6997-E277-80F92D591B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8373" t="83779" r="40635" b="5972"/>
          <a:stretch/>
        </p:blipFill>
        <p:spPr>
          <a:xfrm>
            <a:off x="8998662" y="5125858"/>
            <a:ext cx="1343828" cy="1098865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E282EC55-5A58-D1AB-327F-883E4A84A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173" t="6691" r="28281" b="81450"/>
          <a:stretch/>
        </p:blipFill>
        <p:spPr>
          <a:xfrm>
            <a:off x="9914008" y="4905376"/>
            <a:ext cx="1166950" cy="1271451"/>
          </a:xfrm>
          <a:prstGeom prst="rect">
            <a:avLst/>
          </a:prstGeom>
        </p:spPr>
      </p:pic>
      <p:sp>
        <p:nvSpPr>
          <p:cNvPr id="31" name="Rechthoek 30">
            <a:extLst>
              <a:ext uri="{FF2B5EF4-FFF2-40B4-BE49-F238E27FC236}">
                <a16:creationId xmlns:a16="http://schemas.microsoft.com/office/drawing/2014/main" id="{79B55E7D-3D6B-6520-27D9-A4C5990EED85}"/>
              </a:ext>
            </a:extLst>
          </p:cNvPr>
          <p:cNvSpPr/>
          <p:nvPr/>
        </p:nvSpPr>
        <p:spPr>
          <a:xfrm>
            <a:off x="8453114" y="4886372"/>
            <a:ext cx="582678" cy="1453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2" name="Rechthoek 31">
            <a:extLst>
              <a:ext uri="{FF2B5EF4-FFF2-40B4-BE49-F238E27FC236}">
                <a16:creationId xmlns:a16="http://schemas.microsoft.com/office/drawing/2014/main" id="{EFC2275F-BB5D-342D-1FFB-53223BB71124}"/>
              </a:ext>
            </a:extLst>
          </p:cNvPr>
          <p:cNvSpPr/>
          <p:nvPr/>
        </p:nvSpPr>
        <p:spPr>
          <a:xfrm>
            <a:off x="10206144" y="5125858"/>
            <a:ext cx="582678" cy="1776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161ACBFC-8B34-2FB1-0DB1-C46E1B66FDB9}"/>
              </a:ext>
            </a:extLst>
          </p:cNvPr>
          <p:cNvSpPr txBox="1"/>
          <p:nvPr/>
        </p:nvSpPr>
        <p:spPr>
          <a:xfrm>
            <a:off x="10138089" y="5058771"/>
            <a:ext cx="37542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+3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8323823A-29B5-5853-02B2-EC6CA165D9A8}"/>
              </a:ext>
            </a:extLst>
          </p:cNvPr>
          <p:cNvSpPr txBox="1"/>
          <p:nvPr/>
        </p:nvSpPr>
        <p:spPr>
          <a:xfrm>
            <a:off x="8725605" y="6136088"/>
            <a:ext cx="106631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phagoHIGH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993C4C73-20B0-D19F-21E4-684A28332E7B}"/>
              </a:ext>
            </a:extLst>
          </p:cNvPr>
          <p:cNvSpPr txBox="1"/>
          <p:nvPr/>
        </p:nvSpPr>
        <p:spPr>
          <a:xfrm>
            <a:off x="8723353" y="4847439"/>
            <a:ext cx="10294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phagoLOW</a:t>
            </a:r>
            <a:endParaRPr lang="nl-NL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kstvak 35">
            <a:extLst>
              <a:ext uri="{FF2B5EF4-FFF2-40B4-BE49-F238E27FC236}">
                <a16:creationId xmlns:a16="http://schemas.microsoft.com/office/drawing/2014/main" id="{E6FC4D19-03F8-D016-376A-000973963B62}"/>
              </a:ext>
            </a:extLst>
          </p:cNvPr>
          <p:cNvSpPr txBox="1"/>
          <p:nvPr/>
        </p:nvSpPr>
        <p:spPr>
          <a:xfrm>
            <a:off x="10594927" y="2502633"/>
            <a:ext cx="1135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IntAct - score 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kstvak 36">
            <a:extLst>
              <a:ext uri="{FF2B5EF4-FFF2-40B4-BE49-F238E27FC236}">
                <a16:creationId xmlns:a16="http://schemas.microsoft.com/office/drawing/2014/main" id="{66F5ECCD-9F4D-7AAE-6EFB-65500244A30B}"/>
              </a:ext>
            </a:extLst>
          </p:cNvPr>
          <p:cNvSpPr txBox="1"/>
          <p:nvPr/>
        </p:nvSpPr>
        <p:spPr>
          <a:xfrm>
            <a:off x="10587050" y="2672802"/>
            <a:ext cx="16882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BioGRID – nr of pubs 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DA63481D-27AF-0C59-27F9-E6C6B129913D}"/>
              </a:ext>
            </a:extLst>
          </p:cNvPr>
          <p:cNvSpPr txBox="1"/>
          <p:nvPr/>
        </p:nvSpPr>
        <p:spPr>
          <a:xfrm>
            <a:off x="10587049" y="2841497"/>
            <a:ext cx="13981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APID – nr of pubs</a:t>
            </a:r>
            <a:endParaRPr lang="nl-NL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586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B5410953-95C4-EBF3-58C4-7105C1F4709A}"/>
              </a:ext>
            </a:extLst>
          </p:cNvPr>
          <p:cNvSpPr txBox="1"/>
          <p:nvPr/>
        </p:nvSpPr>
        <p:spPr>
          <a:xfrm>
            <a:off x="3229894" y="681040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Tjp1</a:t>
            </a:r>
            <a:endParaRPr lang="nl-NL" i="1" dirty="0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78E14E7-E780-82D5-B35D-0AF8B2F20E51}"/>
              </a:ext>
            </a:extLst>
          </p:cNvPr>
          <p:cNvSpPr txBox="1"/>
          <p:nvPr/>
        </p:nvSpPr>
        <p:spPr>
          <a:xfrm>
            <a:off x="83257" y="6161576"/>
            <a:ext cx="53578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Hippocampus scRNAseq P15 data from Blanca &amp; Danie </a:t>
            </a:r>
          </a:p>
          <a:p>
            <a:r>
              <a:rPr lang="en-US" i="1" dirty="0"/>
              <a:t>(low nr </a:t>
            </a:r>
            <a:r>
              <a:rPr lang="en-US" i="1" dirty="0" err="1"/>
              <a:t>oR</a:t>
            </a:r>
            <a:r>
              <a:rPr lang="en-US" i="1" dirty="0"/>
              <a:t> not detected: S100a8, Hspa1a, Ccr2, Anxa1)</a:t>
            </a:r>
            <a:endParaRPr lang="nl-NL" i="1" dirty="0"/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id="{A79EAD03-8871-D40E-168C-E30B1C9C1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281" y="1186528"/>
            <a:ext cx="2032246" cy="1963063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id="{9AD0F2F6-41C9-C471-7F34-A57A8B1DC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360" y="1186528"/>
            <a:ext cx="2053486" cy="1963063"/>
          </a:xfrm>
          <a:prstGeom prst="rect">
            <a:avLst/>
          </a:prstGeom>
        </p:spPr>
      </p:pic>
      <p:sp>
        <p:nvSpPr>
          <p:cNvPr id="21" name="Tekstvak 20">
            <a:extLst>
              <a:ext uri="{FF2B5EF4-FFF2-40B4-BE49-F238E27FC236}">
                <a16:creationId xmlns:a16="http://schemas.microsoft.com/office/drawing/2014/main" id="{0A93DD9D-3F30-4676-AE6E-ADF680DA8981}"/>
              </a:ext>
            </a:extLst>
          </p:cNvPr>
          <p:cNvSpPr txBox="1"/>
          <p:nvPr/>
        </p:nvSpPr>
        <p:spPr>
          <a:xfrm>
            <a:off x="5560848" y="681040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Selplg</a:t>
            </a:r>
            <a:endParaRPr lang="nl-NL" i="1" dirty="0"/>
          </a:p>
        </p:txBody>
      </p:sp>
      <p:sp>
        <p:nvSpPr>
          <p:cNvPr id="22" name="Ovaal 21">
            <a:extLst>
              <a:ext uri="{FF2B5EF4-FFF2-40B4-BE49-F238E27FC236}">
                <a16:creationId xmlns:a16="http://schemas.microsoft.com/office/drawing/2014/main" id="{0BB23A98-E5B5-9EBA-7FBD-9C4730B08F25}"/>
              </a:ext>
            </a:extLst>
          </p:cNvPr>
          <p:cNvSpPr/>
          <p:nvPr/>
        </p:nvSpPr>
        <p:spPr>
          <a:xfrm>
            <a:off x="6287885" y="2337777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Tekstvak 22">
            <a:extLst>
              <a:ext uri="{FF2B5EF4-FFF2-40B4-BE49-F238E27FC236}">
                <a16:creationId xmlns:a16="http://schemas.microsoft.com/office/drawing/2014/main" id="{4E34A0FB-CE87-2A5C-BA63-19102E8D3B0D}"/>
              </a:ext>
            </a:extLst>
          </p:cNvPr>
          <p:cNvSpPr txBox="1"/>
          <p:nvPr/>
        </p:nvSpPr>
        <p:spPr>
          <a:xfrm>
            <a:off x="6713356" y="2770144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pic>
        <p:nvPicPr>
          <p:cNvPr id="25" name="Afbeelding 24">
            <a:extLst>
              <a:ext uri="{FF2B5EF4-FFF2-40B4-BE49-F238E27FC236}">
                <a16:creationId xmlns:a16="http://schemas.microsoft.com/office/drawing/2014/main" id="{B88FA175-6D00-73EC-EBCD-F0FC4AA3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679" y="1185284"/>
            <a:ext cx="2032246" cy="1964307"/>
          </a:xfrm>
          <a:prstGeom prst="rect">
            <a:avLst/>
          </a:prstGeom>
        </p:spPr>
      </p:pic>
      <p:sp>
        <p:nvSpPr>
          <p:cNvPr id="26" name="Tekstvak 25">
            <a:extLst>
              <a:ext uri="{FF2B5EF4-FFF2-40B4-BE49-F238E27FC236}">
                <a16:creationId xmlns:a16="http://schemas.microsoft.com/office/drawing/2014/main" id="{31748A59-99A8-EEC5-76C7-53CA6867FCEE}"/>
              </a:ext>
            </a:extLst>
          </p:cNvPr>
          <p:cNvSpPr txBox="1"/>
          <p:nvPr/>
        </p:nvSpPr>
        <p:spPr>
          <a:xfrm>
            <a:off x="8005582" y="681040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Itga9</a:t>
            </a:r>
            <a:endParaRPr lang="nl-NL" i="1" dirty="0"/>
          </a:p>
        </p:txBody>
      </p:sp>
      <p:sp>
        <p:nvSpPr>
          <p:cNvPr id="27" name="Ovaal 26">
            <a:extLst>
              <a:ext uri="{FF2B5EF4-FFF2-40B4-BE49-F238E27FC236}">
                <a16:creationId xmlns:a16="http://schemas.microsoft.com/office/drawing/2014/main" id="{FAEAAE82-BB27-98C3-74B5-1785E72DA8FE}"/>
              </a:ext>
            </a:extLst>
          </p:cNvPr>
          <p:cNvSpPr/>
          <p:nvPr/>
        </p:nvSpPr>
        <p:spPr>
          <a:xfrm>
            <a:off x="8714941" y="2367325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91496B8F-4BAD-1003-D424-0296F8E6B522}"/>
              </a:ext>
            </a:extLst>
          </p:cNvPr>
          <p:cNvSpPr txBox="1"/>
          <p:nvPr/>
        </p:nvSpPr>
        <p:spPr>
          <a:xfrm>
            <a:off x="9175022" y="2700123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EC8D74E-3641-4CBD-88FA-FE5EC5BECCE4}"/>
              </a:ext>
            </a:extLst>
          </p:cNvPr>
          <p:cNvSpPr/>
          <p:nvPr/>
        </p:nvSpPr>
        <p:spPr>
          <a:xfrm>
            <a:off x="8288702" y="1034775"/>
            <a:ext cx="560439" cy="560439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97DCD1B9-93FA-3D3A-4ED5-6E32B1E9F9B4}"/>
              </a:ext>
            </a:extLst>
          </p:cNvPr>
          <p:cNvSpPr txBox="1"/>
          <p:nvPr/>
        </p:nvSpPr>
        <p:spPr>
          <a:xfrm>
            <a:off x="8799566" y="1282907"/>
            <a:ext cx="7079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4472C4"/>
                </a:solidFill>
              </a:rPr>
              <a:t>OPC</a:t>
            </a:r>
            <a:endParaRPr lang="nl-NL" dirty="0">
              <a:solidFill>
                <a:srgbClr val="4472C4"/>
              </a:solidFill>
            </a:endParaRPr>
          </a:p>
        </p:txBody>
      </p:sp>
      <p:pic>
        <p:nvPicPr>
          <p:cNvPr id="32" name="Afbeelding 31">
            <a:extLst>
              <a:ext uri="{FF2B5EF4-FFF2-40B4-BE49-F238E27FC236}">
                <a16:creationId xmlns:a16="http://schemas.microsoft.com/office/drawing/2014/main" id="{B7BA6D82-F9AD-F05A-77E3-1E717D947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4846" y="3956946"/>
            <a:ext cx="2034987" cy="1964307"/>
          </a:xfrm>
          <a:prstGeom prst="rect">
            <a:avLst/>
          </a:prstGeom>
        </p:spPr>
      </p:pic>
      <p:sp>
        <p:nvSpPr>
          <p:cNvPr id="33" name="Tekstvak 32">
            <a:extLst>
              <a:ext uri="{FF2B5EF4-FFF2-40B4-BE49-F238E27FC236}">
                <a16:creationId xmlns:a16="http://schemas.microsoft.com/office/drawing/2014/main" id="{D6F20D3B-902B-9ED8-7A0E-E048E9A342C6}"/>
              </a:ext>
            </a:extLst>
          </p:cNvPr>
          <p:cNvSpPr txBox="1"/>
          <p:nvPr/>
        </p:nvSpPr>
        <p:spPr>
          <a:xfrm>
            <a:off x="3194729" y="3477556"/>
            <a:ext cx="6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Itga6</a:t>
            </a:r>
            <a:endParaRPr lang="nl-NL" i="1" dirty="0"/>
          </a:p>
        </p:txBody>
      </p:sp>
      <p:sp>
        <p:nvSpPr>
          <p:cNvPr id="34" name="Ovaal 33">
            <a:extLst>
              <a:ext uri="{FF2B5EF4-FFF2-40B4-BE49-F238E27FC236}">
                <a16:creationId xmlns:a16="http://schemas.microsoft.com/office/drawing/2014/main" id="{2CAF07A0-163C-3318-74F2-2E6BC93E0D78}"/>
              </a:ext>
            </a:extLst>
          </p:cNvPr>
          <p:cNvSpPr/>
          <p:nvPr/>
        </p:nvSpPr>
        <p:spPr>
          <a:xfrm>
            <a:off x="3931869" y="5174096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3AB2B67A-10F0-5E6A-62B4-7E9576130F41}"/>
              </a:ext>
            </a:extLst>
          </p:cNvPr>
          <p:cNvSpPr/>
          <p:nvPr/>
        </p:nvSpPr>
        <p:spPr>
          <a:xfrm>
            <a:off x="2924285" y="4182104"/>
            <a:ext cx="520779" cy="560439"/>
          </a:xfrm>
          <a:prstGeom prst="ellipse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3F81558-29E7-CD40-8C57-AE944B3F55F6}"/>
              </a:ext>
            </a:extLst>
          </p:cNvPr>
          <p:cNvSpPr txBox="1"/>
          <p:nvPr/>
        </p:nvSpPr>
        <p:spPr>
          <a:xfrm>
            <a:off x="2869641" y="3905517"/>
            <a:ext cx="6278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9CC680"/>
                </a:solidFill>
              </a:rPr>
              <a:t>Astro</a:t>
            </a:r>
            <a:endParaRPr lang="nl-NL" sz="1600" dirty="0">
              <a:solidFill>
                <a:srgbClr val="9CC680"/>
              </a:solidFill>
            </a:endParaRPr>
          </a:p>
        </p:txBody>
      </p:sp>
      <p:sp>
        <p:nvSpPr>
          <p:cNvPr id="8" name="Ovaal 7">
            <a:extLst>
              <a:ext uri="{FF2B5EF4-FFF2-40B4-BE49-F238E27FC236}">
                <a16:creationId xmlns:a16="http://schemas.microsoft.com/office/drawing/2014/main" id="{6B1D0DA5-DB02-1BF4-EF35-F2AB5880D690}"/>
              </a:ext>
            </a:extLst>
          </p:cNvPr>
          <p:cNvSpPr/>
          <p:nvPr/>
        </p:nvSpPr>
        <p:spPr>
          <a:xfrm>
            <a:off x="2508356" y="4512887"/>
            <a:ext cx="520778" cy="10186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319ABF25-BB22-10D1-C804-C206E1761E64}"/>
              </a:ext>
            </a:extLst>
          </p:cNvPr>
          <p:cNvSpPr txBox="1"/>
          <p:nvPr/>
        </p:nvSpPr>
        <p:spPr>
          <a:xfrm>
            <a:off x="1901252" y="4277203"/>
            <a:ext cx="890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Granule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cells </a:t>
            </a:r>
            <a:endParaRPr lang="nl-NL" sz="1600" dirty="0">
              <a:solidFill>
                <a:srgbClr val="FF0000"/>
              </a:solidFill>
            </a:endParaRPr>
          </a:p>
        </p:txBody>
      </p:sp>
      <p:pic>
        <p:nvPicPr>
          <p:cNvPr id="37" name="Afbeelding 36">
            <a:extLst>
              <a:ext uri="{FF2B5EF4-FFF2-40B4-BE49-F238E27FC236}">
                <a16:creationId xmlns:a16="http://schemas.microsoft.com/office/drawing/2014/main" id="{87A27951-CCAE-8284-EC03-5BA6470C9F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360" y="3956946"/>
            <a:ext cx="2080611" cy="1963063"/>
          </a:xfrm>
          <a:prstGeom prst="rect">
            <a:avLst/>
          </a:prstGeom>
        </p:spPr>
      </p:pic>
      <p:sp>
        <p:nvSpPr>
          <p:cNvPr id="38" name="Tekstvak 37">
            <a:extLst>
              <a:ext uri="{FF2B5EF4-FFF2-40B4-BE49-F238E27FC236}">
                <a16:creationId xmlns:a16="http://schemas.microsoft.com/office/drawing/2014/main" id="{7A27D508-C499-6D2C-9F6E-E0ABA4D7801D}"/>
              </a:ext>
            </a:extLst>
          </p:cNvPr>
          <p:cNvSpPr txBox="1"/>
          <p:nvPr/>
        </p:nvSpPr>
        <p:spPr>
          <a:xfrm>
            <a:off x="5604867" y="3477556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Dbn1</a:t>
            </a:r>
            <a:endParaRPr lang="nl-NL" i="1" dirty="0"/>
          </a:p>
        </p:txBody>
      </p:sp>
      <p:sp>
        <p:nvSpPr>
          <p:cNvPr id="39" name="Ovaal 38">
            <a:extLst>
              <a:ext uri="{FF2B5EF4-FFF2-40B4-BE49-F238E27FC236}">
                <a16:creationId xmlns:a16="http://schemas.microsoft.com/office/drawing/2014/main" id="{9129477C-9DA9-BBE5-C0EF-99359EBE87C3}"/>
              </a:ext>
            </a:extLst>
          </p:cNvPr>
          <p:cNvSpPr/>
          <p:nvPr/>
        </p:nvSpPr>
        <p:spPr>
          <a:xfrm>
            <a:off x="4886828" y="4526114"/>
            <a:ext cx="520778" cy="103837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6681DE1A-4411-D633-7080-0787AA180D57}"/>
              </a:ext>
            </a:extLst>
          </p:cNvPr>
          <p:cNvSpPr txBox="1"/>
          <p:nvPr/>
        </p:nvSpPr>
        <p:spPr>
          <a:xfrm>
            <a:off x="4473258" y="4112016"/>
            <a:ext cx="8905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Granule </a:t>
            </a:r>
          </a:p>
          <a:p>
            <a:r>
              <a:rPr lang="en-US" sz="1600" dirty="0">
                <a:solidFill>
                  <a:srgbClr val="FF0000"/>
                </a:solidFill>
              </a:rPr>
              <a:t>cells </a:t>
            </a:r>
            <a:endParaRPr lang="nl-NL" sz="1600" dirty="0">
              <a:solidFill>
                <a:srgbClr val="FF0000"/>
              </a:solidFill>
            </a:endParaRPr>
          </a:p>
        </p:txBody>
      </p:sp>
      <p:sp>
        <p:nvSpPr>
          <p:cNvPr id="41" name="Ovaal 40">
            <a:extLst>
              <a:ext uri="{FF2B5EF4-FFF2-40B4-BE49-F238E27FC236}">
                <a16:creationId xmlns:a16="http://schemas.microsoft.com/office/drawing/2014/main" id="{E1B48DB7-731D-45F3-6C02-ACCD11FAAA1B}"/>
              </a:ext>
            </a:extLst>
          </p:cNvPr>
          <p:cNvSpPr/>
          <p:nvPr/>
        </p:nvSpPr>
        <p:spPr>
          <a:xfrm>
            <a:off x="5718156" y="4457640"/>
            <a:ext cx="520778" cy="1038373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rgbClr val="7030A0"/>
              </a:solidFill>
            </a:endParaRPr>
          </a:p>
        </p:txBody>
      </p:sp>
      <p:sp>
        <p:nvSpPr>
          <p:cNvPr id="42" name="Tekstvak 41">
            <a:extLst>
              <a:ext uri="{FF2B5EF4-FFF2-40B4-BE49-F238E27FC236}">
                <a16:creationId xmlns:a16="http://schemas.microsoft.com/office/drawing/2014/main" id="{6E75BC3F-02F6-8D86-BB64-92402931114E}"/>
              </a:ext>
            </a:extLst>
          </p:cNvPr>
          <p:cNvSpPr txBox="1"/>
          <p:nvPr/>
        </p:nvSpPr>
        <p:spPr>
          <a:xfrm>
            <a:off x="6178744" y="4371574"/>
            <a:ext cx="8674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</a:rPr>
              <a:t>Hip </a:t>
            </a:r>
          </a:p>
          <a:p>
            <a:r>
              <a:rPr lang="en-US" sz="1600" dirty="0">
                <a:solidFill>
                  <a:srgbClr val="7030A0"/>
                </a:solidFill>
              </a:rPr>
              <a:t>neurons</a:t>
            </a:r>
            <a:endParaRPr lang="nl-NL" sz="1600" dirty="0">
              <a:solidFill>
                <a:srgbClr val="7030A0"/>
              </a:solidFill>
            </a:endParaRPr>
          </a:p>
        </p:txBody>
      </p:sp>
      <p:pic>
        <p:nvPicPr>
          <p:cNvPr id="44" name="Afbeelding 43">
            <a:extLst>
              <a:ext uri="{FF2B5EF4-FFF2-40B4-BE49-F238E27FC236}">
                <a16:creationId xmlns:a16="http://schemas.microsoft.com/office/drawing/2014/main" id="{112DA2DE-EEA5-503F-0C07-A8753629C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679" y="3956946"/>
            <a:ext cx="2004082" cy="1963063"/>
          </a:xfrm>
          <a:prstGeom prst="rect">
            <a:avLst/>
          </a:prstGeom>
        </p:spPr>
      </p:pic>
      <p:sp>
        <p:nvSpPr>
          <p:cNvPr id="45" name="Tekstvak 44">
            <a:extLst>
              <a:ext uri="{FF2B5EF4-FFF2-40B4-BE49-F238E27FC236}">
                <a16:creationId xmlns:a16="http://schemas.microsoft.com/office/drawing/2014/main" id="{CF51C8F9-8BAF-9E53-7736-6726833A2A9C}"/>
              </a:ext>
            </a:extLst>
          </p:cNvPr>
          <p:cNvSpPr txBox="1"/>
          <p:nvPr/>
        </p:nvSpPr>
        <p:spPr>
          <a:xfrm>
            <a:off x="8028401" y="3477556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Ccr5</a:t>
            </a:r>
            <a:endParaRPr lang="nl-NL" i="1" dirty="0"/>
          </a:p>
        </p:txBody>
      </p:sp>
      <p:sp>
        <p:nvSpPr>
          <p:cNvPr id="46" name="Ovaal 45">
            <a:extLst>
              <a:ext uri="{FF2B5EF4-FFF2-40B4-BE49-F238E27FC236}">
                <a16:creationId xmlns:a16="http://schemas.microsoft.com/office/drawing/2014/main" id="{3B9FBD9A-B357-63B0-F6ED-DA8CA08D1717}"/>
              </a:ext>
            </a:extLst>
          </p:cNvPr>
          <p:cNvSpPr/>
          <p:nvPr/>
        </p:nvSpPr>
        <p:spPr>
          <a:xfrm>
            <a:off x="8681869" y="5121825"/>
            <a:ext cx="520778" cy="560438"/>
          </a:xfrm>
          <a:prstGeom prst="ellipse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7" name="Tekstvak 46">
            <a:extLst>
              <a:ext uri="{FF2B5EF4-FFF2-40B4-BE49-F238E27FC236}">
                <a16:creationId xmlns:a16="http://schemas.microsoft.com/office/drawing/2014/main" id="{31B7D9CA-6087-0916-D307-22EB007DE75B}"/>
              </a:ext>
            </a:extLst>
          </p:cNvPr>
          <p:cNvSpPr txBox="1"/>
          <p:nvPr/>
        </p:nvSpPr>
        <p:spPr>
          <a:xfrm>
            <a:off x="9175021" y="5469361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  <p:sp>
        <p:nvSpPr>
          <p:cNvPr id="35" name="Tekstvak 34">
            <a:extLst>
              <a:ext uri="{FF2B5EF4-FFF2-40B4-BE49-F238E27FC236}">
                <a16:creationId xmlns:a16="http://schemas.microsoft.com/office/drawing/2014/main" id="{7ED94278-9826-144B-B7EB-41D9E8A22E37}"/>
              </a:ext>
            </a:extLst>
          </p:cNvPr>
          <p:cNvSpPr txBox="1"/>
          <p:nvPr/>
        </p:nvSpPr>
        <p:spPr>
          <a:xfrm>
            <a:off x="4372797" y="5589973"/>
            <a:ext cx="7167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C71C"/>
                </a:solidFill>
              </a:rPr>
              <a:t>Micro </a:t>
            </a:r>
            <a:endParaRPr lang="nl-NL" sz="1600" dirty="0">
              <a:solidFill>
                <a:srgbClr val="FFC71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72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4BF7E-6F83-499A-BB60-9778BD50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047" y="1716761"/>
            <a:ext cx="7350240" cy="41726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71647-3BCD-4A83-82E1-E9501D0A26B4}"/>
              </a:ext>
            </a:extLst>
          </p:cNvPr>
          <p:cNvCxnSpPr/>
          <p:nvPr/>
        </p:nvCxnSpPr>
        <p:spPr>
          <a:xfrm>
            <a:off x="9173688" y="4827321"/>
            <a:ext cx="5759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69BA926-E305-43BE-BA5B-782F12316BA1}"/>
              </a:ext>
            </a:extLst>
          </p:cNvPr>
          <p:cNvSpPr txBox="1"/>
          <p:nvPr/>
        </p:nvSpPr>
        <p:spPr>
          <a:xfrm>
            <a:off x="9828043" y="4642655"/>
            <a:ext cx="16658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&amp; </a:t>
            </a:r>
            <a:r>
              <a:rPr lang="en-US" dirty="0" err="1"/>
              <a:t>UniHI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UniHi</a:t>
            </a:r>
            <a:r>
              <a:rPr lang="en-US" dirty="0"/>
              <a:t> is down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C2B16D-9E85-449C-B8FB-A39BCCA6A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047" y="222652"/>
            <a:ext cx="7635902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98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09F43449-AD8F-4BC8-BA43-FD0A499484D7}"/>
              </a:ext>
            </a:extLst>
          </p:cNvPr>
          <p:cNvSpPr txBox="1"/>
          <p:nvPr/>
        </p:nvSpPr>
        <p:spPr>
          <a:xfrm>
            <a:off x="2437764" y="156479"/>
            <a:ext cx="2366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D89C-D07F-4B7A-903B-7983D3DE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11" y="947045"/>
            <a:ext cx="7635902" cy="14250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38D8B8-6D73-4159-90F5-7CC67DAE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24" y="2501987"/>
            <a:ext cx="5430982" cy="39678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2654C-0A29-4D37-95B5-EE0B3738B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67" y="5701920"/>
            <a:ext cx="5523702" cy="9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22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C50232-B35D-473D-B4B8-DAC80CB2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48" y="967836"/>
            <a:ext cx="5317938" cy="410886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F43923-4294-4ABF-98CA-882E69471F7A}"/>
              </a:ext>
            </a:extLst>
          </p:cNvPr>
          <p:cNvCxnSpPr>
            <a:cxnSpLocks/>
          </p:cNvCxnSpPr>
          <p:nvPr/>
        </p:nvCxnSpPr>
        <p:spPr>
          <a:xfrm flipV="1">
            <a:off x="2676158" y="2092035"/>
            <a:ext cx="414891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370DC0-146A-484C-A107-C34F7EB333E1}"/>
              </a:ext>
            </a:extLst>
          </p:cNvPr>
          <p:cNvCxnSpPr>
            <a:cxnSpLocks/>
          </p:cNvCxnSpPr>
          <p:nvPr/>
        </p:nvCxnSpPr>
        <p:spPr>
          <a:xfrm flipV="1">
            <a:off x="2676158" y="2313708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664960-FE14-4CDE-9B45-3129368DB20C}"/>
              </a:ext>
            </a:extLst>
          </p:cNvPr>
          <p:cNvCxnSpPr>
            <a:cxnSpLocks/>
          </p:cNvCxnSpPr>
          <p:nvPr/>
        </p:nvCxnSpPr>
        <p:spPr>
          <a:xfrm flipV="1">
            <a:off x="2676158" y="2952996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5932-90BD-4BA6-9535-ABCB746150DD}"/>
              </a:ext>
            </a:extLst>
          </p:cNvPr>
          <p:cNvSpPr/>
          <p:nvPr/>
        </p:nvSpPr>
        <p:spPr>
          <a:xfrm>
            <a:off x="534008" y="72171"/>
            <a:ext cx="511408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dirty="0" err="1"/>
              <a:t>Mean</a:t>
            </a:r>
            <a:r>
              <a:rPr lang="nl-BE" sz="1400" dirty="0"/>
              <a:t> </a:t>
            </a:r>
            <a:r>
              <a:rPr lang="nl-BE" sz="1400" dirty="0" err="1"/>
              <a:t>yield</a:t>
            </a:r>
            <a:r>
              <a:rPr lang="nl-BE" sz="1400" dirty="0"/>
              <a:t> </a:t>
            </a:r>
            <a:r>
              <a:rPr lang="nl-BE" sz="1400" dirty="0" err="1"/>
              <a:t>coverage</a:t>
            </a:r>
            <a:r>
              <a:rPr lang="nl-BE" sz="1400" dirty="0"/>
              <a:t> of </a:t>
            </a:r>
            <a:r>
              <a:rPr lang="nl-BE" sz="1400" dirty="0" err="1"/>
              <a:t>protein</a:t>
            </a:r>
            <a:r>
              <a:rPr lang="nl-BE" sz="1400" dirty="0"/>
              <a:t> </a:t>
            </a:r>
            <a:r>
              <a:rPr lang="nl-BE" sz="1400" dirty="0" err="1"/>
              <a:t>interactions</a:t>
            </a:r>
            <a:r>
              <a:rPr lang="nl-BE" sz="1400" dirty="0"/>
              <a:t> </a:t>
            </a:r>
            <a:r>
              <a:rPr lang="nl-BE" sz="1400" dirty="0" err="1"/>
              <a:t>across</a:t>
            </a:r>
            <a:r>
              <a:rPr lang="nl-BE" sz="1400" dirty="0"/>
              <a:t> databases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ubiquitous</a:t>
            </a:r>
            <a:r>
              <a:rPr lang="nl-BE" sz="1400" dirty="0"/>
              <a:t>, tissue-</a:t>
            </a:r>
            <a:r>
              <a:rPr lang="nl-BE" sz="1400" dirty="0" err="1"/>
              <a:t>specific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</a:t>
            </a:r>
            <a:r>
              <a:rPr lang="nl-BE" sz="1400" dirty="0" err="1"/>
              <a:t>disease-associated</a:t>
            </a:r>
            <a:r>
              <a:rPr lang="nl-BE" sz="1400" dirty="0"/>
              <a:t> gene-sets.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523DB4-4433-49EF-9322-C106F354F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4" y="599490"/>
            <a:ext cx="5487695" cy="301024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F237DC-E413-41E3-BE41-A4D9282D3BC0}"/>
              </a:ext>
            </a:extLst>
          </p:cNvPr>
          <p:cNvSpPr/>
          <p:nvPr/>
        </p:nvSpPr>
        <p:spPr>
          <a:xfrm>
            <a:off x="6575555" y="205012"/>
            <a:ext cx="48627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</a:rPr>
              <a:t>Coverage of protein interactions across the databases based on complete downloaded data.</a:t>
            </a:r>
            <a:endParaRPr lang="nl-BE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77BC9E-114D-406C-9314-722E8FBAB53F}"/>
              </a:ext>
            </a:extLst>
          </p:cNvPr>
          <p:cNvCxnSpPr>
            <a:cxnSpLocks/>
          </p:cNvCxnSpPr>
          <p:nvPr/>
        </p:nvCxnSpPr>
        <p:spPr>
          <a:xfrm flipV="1">
            <a:off x="7519312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8D4623-A05E-4127-84F7-D4E3CE9566A1}"/>
              </a:ext>
            </a:extLst>
          </p:cNvPr>
          <p:cNvCxnSpPr>
            <a:cxnSpLocks/>
          </p:cNvCxnSpPr>
          <p:nvPr/>
        </p:nvCxnSpPr>
        <p:spPr>
          <a:xfrm flipV="1">
            <a:off x="7861717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68E38C-3ECE-498C-8A42-719C34A817E4}"/>
              </a:ext>
            </a:extLst>
          </p:cNvPr>
          <p:cNvCxnSpPr>
            <a:cxnSpLocks/>
          </p:cNvCxnSpPr>
          <p:nvPr/>
        </p:nvCxnSpPr>
        <p:spPr>
          <a:xfrm flipV="1">
            <a:off x="8803826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3A2F8-3225-461E-9CB7-AEE3F4A1A241}"/>
              </a:ext>
            </a:extLst>
          </p:cNvPr>
          <p:cNvCxnSpPr/>
          <p:nvPr/>
        </p:nvCxnSpPr>
        <p:spPr>
          <a:xfrm>
            <a:off x="836106" y="5888179"/>
            <a:ext cx="5759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1C8646-B888-4A91-8827-FB4B78BCF3D6}"/>
              </a:ext>
            </a:extLst>
          </p:cNvPr>
          <p:cNvSpPr txBox="1"/>
          <p:nvPr/>
        </p:nvSpPr>
        <p:spPr>
          <a:xfrm>
            <a:off x="1548627" y="5222242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(BioGRID,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E67DDCB-41CB-4CE9-80D2-2EEA765DD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802" y="4203872"/>
            <a:ext cx="2701733" cy="2562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234F007-1571-48F8-AB99-08EF78473498}"/>
              </a:ext>
            </a:extLst>
          </p:cNvPr>
          <p:cNvSpPr/>
          <p:nvPr/>
        </p:nvSpPr>
        <p:spPr>
          <a:xfrm>
            <a:off x="6575555" y="3796537"/>
            <a:ext cx="54747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 </a:t>
            </a:r>
            <a:r>
              <a:rPr lang="en-US" sz="1400" b="0" i="0" dirty="0">
                <a:solidFill>
                  <a:srgbClr val="000000"/>
                </a:solidFill>
              </a:rPr>
              <a:t>Coverage of exclusive protein interactions among the primary databases, based on the analysis of complete downloaded data. 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728162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32BC1B-9906-4BBA-AFCC-EA6CC3192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748"/>
          <a:stretch/>
        </p:blipFill>
        <p:spPr>
          <a:xfrm>
            <a:off x="657642" y="291559"/>
            <a:ext cx="1646171" cy="4863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686941-ADD7-4FFF-B13C-9ABE46A27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" y="1076864"/>
            <a:ext cx="9019309" cy="22191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3FF063-6BB1-4356-9B7B-CE9A83AB58D4}"/>
              </a:ext>
            </a:extLst>
          </p:cNvPr>
          <p:cNvSpPr/>
          <p:nvPr/>
        </p:nvSpPr>
        <p:spPr>
          <a:xfrm>
            <a:off x="2359772" y="1648691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2314C-64A4-4001-9F75-F6F4D28C911B}"/>
              </a:ext>
            </a:extLst>
          </p:cNvPr>
          <p:cNvSpPr/>
          <p:nvPr/>
        </p:nvSpPr>
        <p:spPr>
          <a:xfrm>
            <a:off x="657642" y="2645229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2BF67-6399-492F-B2B1-F48EEE6EAC6E}"/>
              </a:ext>
            </a:extLst>
          </p:cNvPr>
          <p:cNvSpPr/>
          <p:nvPr/>
        </p:nvSpPr>
        <p:spPr>
          <a:xfrm>
            <a:off x="3998567" y="2245427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2E7841-059B-4DBA-B3B2-1B4236C37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323" y="7032"/>
            <a:ext cx="2447755" cy="9711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331B50-1D07-4A96-912E-D4D3280FFFC7}"/>
              </a:ext>
            </a:extLst>
          </p:cNvPr>
          <p:cNvSpPr txBox="1"/>
          <p:nvPr/>
        </p:nvSpPr>
        <p:spPr>
          <a:xfrm>
            <a:off x="729739" y="3561939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(BioGRID,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(BioGRID,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B96F71-4972-4D0F-B6C7-ED7E72500EA1}"/>
              </a:ext>
            </a:extLst>
          </p:cNvPr>
          <p:cNvCxnSpPr>
            <a:cxnSpLocks/>
          </p:cNvCxnSpPr>
          <p:nvPr/>
        </p:nvCxnSpPr>
        <p:spPr>
          <a:xfrm>
            <a:off x="5057783" y="4192250"/>
            <a:ext cx="1105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DF0FF24-E917-4F80-BBBD-02CA95B799E7}"/>
              </a:ext>
            </a:extLst>
          </p:cNvPr>
          <p:cNvSpPr txBox="1"/>
          <p:nvPr/>
        </p:nvSpPr>
        <p:spPr>
          <a:xfrm>
            <a:off x="6580523" y="3592085"/>
            <a:ext cx="4685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(scoring system)</a:t>
            </a:r>
          </a:p>
          <a:p>
            <a:r>
              <a:rPr lang="en-US" b="1" dirty="0"/>
              <a:t>PSICQUIC</a:t>
            </a:r>
            <a:r>
              <a:rPr lang="en-US" dirty="0"/>
              <a:t> (no scoring system, nr of publications)</a:t>
            </a:r>
          </a:p>
          <a:p>
            <a:r>
              <a:rPr lang="en-US" dirty="0"/>
              <a:t>HIPPIE (scoring system)</a:t>
            </a:r>
          </a:p>
          <a:p>
            <a:r>
              <a:rPr lang="en-US" dirty="0"/>
              <a:t>+ APID (as backup to HIPPIE, scoring system)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FFD574-EC80-4C08-8D79-750FBA6DD1A3}"/>
              </a:ext>
            </a:extLst>
          </p:cNvPr>
          <p:cNvSpPr txBox="1"/>
          <p:nvPr/>
        </p:nvSpPr>
        <p:spPr>
          <a:xfrm>
            <a:off x="7493171" y="4810066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DB5E0"/>
                </a:solidFill>
              </a:rPr>
              <a:t>STRING</a:t>
            </a:r>
            <a:endParaRPr lang="nl-BE" dirty="0">
              <a:solidFill>
                <a:srgbClr val="9DB5E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E4A64-8115-46AF-9941-542E2640C54D}"/>
              </a:ext>
            </a:extLst>
          </p:cNvPr>
          <p:cNvSpPr txBox="1"/>
          <p:nvPr/>
        </p:nvSpPr>
        <p:spPr>
          <a:xfrm>
            <a:off x="8483704" y="4754936"/>
            <a:ext cx="1072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6E6A4"/>
                </a:solidFill>
              </a:rPr>
              <a:t>PSICQUIC</a:t>
            </a:r>
            <a:endParaRPr lang="nl-BE" dirty="0">
              <a:solidFill>
                <a:srgbClr val="C6E6A4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F28789-C79E-4689-B119-261300610E2E}"/>
              </a:ext>
            </a:extLst>
          </p:cNvPr>
          <p:cNvSpPr txBox="1"/>
          <p:nvPr/>
        </p:nvSpPr>
        <p:spPr>
          <a:xfrm>
            <a:off x="9475397" y="5069101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B493CD"/>
                </a:solidFill>
              </a:rPr>
              <a:t>HIPPIE</a:t>
            </a:r>
            <a:endParaRPr lang="nl-BE" dirty="0">
              <a:solidFill>
                <a:srgbClr val="B493CD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5EAF37-91FD-4B2E-9C52-890D61449E80}"/>
              </a:ext>
            </a:extLst>
          </p:cNvPr>
          <p:cNvSpPr txBox="1"/>
          <p:nvPr/>
        </p:nvSpPr>
        <p:spPr>
          <a:xfrm>
            <a:off x="6813327" y="5252217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7A7A"/>
                </a:solidFill>
              </a:rPr>
              <a:t>APID</a:t>
            </a:r>
            <a:endParaRPr lang="nl-BE" dirty="0">
              <a:solidFill>
                <a:srgbClr val="FF7A7A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6D990F6-DA9D-42EF-A1F6-549D0F3653C6}"/>
              </a:ext>
            </a:extLst>
          </p:cNvPr>
          <p:cNvSpPr/>
          <p:nvPr/>
        </p:nvSpPr>
        <p:spPr>
          <a:xfrm rot="2374457">
            <a:off x="7206543" y="5717086"/>
            <a:ext cx="1769423" cy="861790"/>
          </a:xfrm>
          <a:prstGeom prst="ellipse">
            <a:avLst/>
          </a:prstGeom>
          <a:solidFill>
            <a:srgbClr val="FF959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492075-ED75-4B77-8E1B-F50EFE511F1F}"/>
              </a:ext>
            </a:extLst>
          </p:cNvPr>
          <p:cNvSpPr/>
          <p:nvPr/>
        </p:nvSpPr>
        <p:spPr>
          <a:xfrm rot="2374457">
            <a:off x="7572890" y="5411165"/>
            <a:ext cx="1769423" cy="861790"/>
          </a:xfrm>
          <a:prstGeom prst="ellipse">
            <a:avLst/>
          </a:prstGeom>
          <a:solidFill>
            <a:srgbClr val="4472C4">
              <a:alpha val="2509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6F898FA-B684-483D-8ABD-8D234039236D}"/>
              </a:ext>
            </a:extLst>
          </p:cNvPr>
          <p:cNvSpPr/>
          <p:nvPr/>
        </p:nvSpPr>
        <p:spPr>
          <a:xfrm rot="7763483">
            <a:off x="7605143" y="5441640"/>
            <a:ext cx="1769423" cy="861790"/>
          </a:xfrm>
          <a:prstGeom prst="ellipse">
            <a:avLst/>
          </a:prstGeom>
          <a:solidFill>
            <a:srgbClr val="C6E6A4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D17DC98-B95D-4D74-ADCB-81CB929ADA75}"/>
              </a:ext>
            </a:extLst>
          </p:cNvPr>
          <p:cNvSpPr/>
          <p:nvPr/>
        </p:nvSpPr>
        <p:spPr>
          <a:xfrm rot="7763483">
            <a:off x="8016592" y="5632867"/>
            <a:ext cx="1769423" cy="861790"/>
          </a:xfrm>
          <a:prstGeom prst="ellipse">
            <a:avLst/>
          </a:prstGeom>
          <a:solidFill>
            <a:srgbClr val="B493CD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063349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4062</TotalTime>
  <Words>438</Words>
  <Application>Microsoft Office PowerPoint</Application>
  <PresentationFormat>Breedbeeld</PresentationFormat>
  <Paragraphs>98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Roboto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70</cp:revision>
  <dcterms:created xsi:type="dcterms:W3CDTF">2023-09-20T10:49:24Z</dcterms:created>
  <dcterms:modified xsi:type="dcterms:W3CDTF">2023-10-19T21:05:56Z</dcterms:modified>
</cp:coreProperties>
</file>