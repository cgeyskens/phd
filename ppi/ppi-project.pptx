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67FB6-3614-4446-A537-B153597F3F7D}" type="datetimeFigureOut">
              <a:rPr lang="nl-NL" smtClean="0"/>
              <a:t>4-10-2023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D7F69-71E7-48DB-9B1D-444B6CD7964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08845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EF69F4-BFF2-55ED-E1BA-75BD7566B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A544DE5-E251-B0EF-E717-1228B309A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8AFDA31-0BC1-C954-12DC-18F4098E2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57F31-EF9F-422B-9EBC-20B94937EE59}" type="datetimeFigureOut">
              <a:rPr lang="nl-NL" smtClean="0"/>
              <a:t>4-10-2023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3516E2F-22B9-503F-7056-83271118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1C3BB70-2ECA-C042-0146-1F7A7F06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6356-AADF-4629-B8B1-6957A41DA8C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6488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B1AA8E-FCBA-8609-1085-47171CF52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D6CD12-5DF3-2968-9E20-5372FE799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2D542FA-F712-EAC0-2731-AF5BBD8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57F31-EF9F-422B-9EBC-20B94937EE59}" type="datetimeFigureOut">
              <a:rPr lang="nl-NL" smtClean="0"/>
              <a:t>4-10-2023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DAB6E3-64B4-A602-E4DC-B315C751B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B1BC4CD-BE05-36E2-DABF-01D1F7B5B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6356-AADF-4629-B8B1-6957A41DA8C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989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F427B9-2574-5597-DD8B-32EF8C27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0963F2E-7FAC-4E00-969B-45057365C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51175-CD7F-5283-C161-185DC25B8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57F31-EF9F-422B-9EBC-20B94937EE59}" type="datetimeFigureOut">
              <a:rPr lang="nl-NL" smtClean="0"/>
              <a:t>4-10-2023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98FD06B-919E-35D6-12C4-42834E133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52CB074-0E6D-B7E3-9119-0987C47C7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6356-AADF-4629-B8B1-6957A41DA8C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953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B8EE0-17B6-B118-ACB2-A907EF87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7682181-F615-11BD-0B18-17529B59B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00511BF-D211-67DB-42EF-F700C29D6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156EB9C-9C9D-5EF1-67DA-B5871B70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57F31-EF9F-422B-9EBC-20B94937EE59}" type="datetimeFigureOut">
              <a:rPr lang="nl-NL" smtClean="0"/>
              <a:t>4-10-2023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789D7F1-A91D-DF7D-EA47-7F0B4861D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5635608-83FF-9758-D468-208E0B8B1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6356-AADF-4629-B8B1-6957A41DA8C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1491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2F5989-B444-767D-3907-8A8AA6E58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03476A7-0F2D-8D64-399C-6DA015562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AB57253-F0A6-9F47-4098-581B09AC9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CFD3F7E-69EB-1822-93D4-9E8DD751F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3106337-37A2-76D8-BE90-4F019B8B5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1C2C0F7-F28A-1B6C-E5A6-F6716D08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57F31-EF9F-422B-9EBC-20B94937EE59}" type="datetimeFigureOut">
              <a:rPr lang="nl-NL" smtClean="0"/>
              <a:t>4-10-2023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4217B5F0-C609-636C-7BB3-08F56672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ACAA689F-11BE-C066-21E3-07F10C3F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6356-AADF-4629-B8B1-6957A41DA8C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9809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E24271-A7B8-2962-5A48-5551F68E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BB46798-BDD7-3666-6B7D-C9B06A06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57F31-EF9F-422B-9EBC-20B94937EE59}" type="datetimeFigureOut">
              <a:rPr lang="nl-NL" smtClean="0"/>
              <a:t>4-10-2023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74E5680-E25F-2414-4DB0-6FF5C7AE2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945C231-228B-84E0-0D05-600ED42C7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6356-AADF-4629-B8B1-6957A41DA8C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6389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34831F9-FDF4-24D5-819C-FE84F0E7E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57F31-EF9F-422B-9EBC-20B94937EE59}" type="datetimeFigureOut">
              <a:rPr lang="nl-NL" smtClean="0"/>
              <a:t>4-10-2023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F8D4EEE-7E14-E781-2EFA-89AE2B0C8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B2150CA-231A-FB85-D9ED-7837678B7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6356-AADF-4629-B8B1-6957A41DA8C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0149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4A0CC5-2556-77B6-661E-B017607B2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69DEB92-397E-4132-FF56-4FAD6F14F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2F02FEE-377A-24B5-D3EE-E0B2779B5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E8107CA-6678-2F44-07E9-74E75CC7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57F31-EF9F-422B-9EBC-20B94937EE59}" type="datetimeFigureOut">
              <a:rPr lang="nl-NL" smtClean="0"/>
              <a:t>4-10-2023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AEFA487-7DA4-82D7-321D-258CDC197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E560B82-6353-5CB5-8226-B12A660A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6356-AADF-4629-B8B1-6957A41DA8C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151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185C42-7F71-60DD-E67C-396DEDDF1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21F3AFD-E792-BBEC-5143-F0E85499E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1E92C74-0942-2472-64F3-606E5CC4D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DD4ADE9-F23A-BB7C-A61B-BA5DB445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57F31-EF9F-422B-9EBC-20B94937EE59}" type="datetimeFigureOut">
              <a:rPr lang="nl-NL" smtClean="0"/>
              <a:t>4-10-2023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B0F3520-8003-304D-3F81-AFD339281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00696BF-DD8D-F63A-5D5E-626B603EE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6356-AADF-4629-B8B1-6957A41DA8C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4870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78CA6C-11AA-5EB9-8F10-A03B826CB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84D16BE-4240-7F55-C002-02F5B3083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B1B574-EDEE-C3B0-C750-8EA6D5F9E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57F31-EF9F-422B-9EBC-20B94937EE59}" type="datetimeFigureOut">
              <a:rPr lang="nl-NL" smtClean="0"/>
              <a:t>4-10-2023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1852DA6-305D-2C24-D7C2-ECDA7AE1D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A59B0E0-CBC7-B718-4C4F-316AA4F1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6356-AADF-4629-B8B1-6957A41DA8C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638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547E34A-9E1D-7167-9BF3-30E8B83C6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EE8C661-ED76-9587-2A02-A01D24DF3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A0EDD1A-BEB9-F9A5-9653-86325BFF7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57F31-EF9F-422B-9EBC-20B94937EE59}" type="datetimeFigureOut">
              <a:rPr lang="nl-NL" smtClean="0"/>
              <a:t>4-10-2023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1B85858-EFA5-A290-002C-ED35664F4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135F2D0-FCAB-53DF-0920-A204B36B1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76356-AADF-4629-B8B1-6957A41DA8C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7882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DFC68FB-1CEF-2750-57C4-6BFE037E1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5D2813-5F8A-3169-9640-7E136372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F4642CE-CC29-0AF5-9311-7EF81AC67F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57F31-EF9F-422B-9EBC-20B94937EE59}" type="datetimeFigureOut">
              <a:rPr lang="nl-NL" smtClean="0"/>
              <a:t>4-10-2023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B70C139-8D58-3F33-BE5E-F362CC6CE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5F95C23-1A5B-3232-F95A-026515A03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76356-AADF-4629-B8B1-6957A41DA8C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737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jl: punthaak 26">
            <a:extLst>
              <a:ext uri="{FF2B5EF4-FFF2-40B4-BE49-F238E27FC236}">
                <a16:creationId xmlns:a16="http://schemas.microsoft.com/office/drawing/2014/main" id="{0378F427-0670-26D3-6A03-A7AA41A832D0}"/>
              </a:ext>
            </a:extLst>
          </p:cNvPr>
          <p:cNvSpPr/>
          <p:nvPr/>
        </p:nvSpPr>
        <p:spPr>
          <a:xfrm>
            <a:off x="3217365" y="2561232"/>
            <a:ext cx="1681319" cy="400110"/>
          </a:xfrm>
          <a:prstGeom prst="chevron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4CD32B17-6FCB-D59D-DA92-835CB358FCF5}"/>
              </a:ext>
            </a:extLst>
          </p:cNvPr>
          <p:cNvSpPr txBox="1"/>
          <p:nvPr/>
        </p:nvSpPr>
        <p:spPr>
          <a:xfrm>
            <a:off x="2437764" y="156479"/>
            <a:ext cx="71368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Finding computational relevant VCAM1 interactors (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heatmap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nl-NL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30CD170B-D45E-CEE4-7603-33A6EDFC8E60}"/>
              </a:ext>
            </a:extLst>
          </p:cNvPr>
          <p:cNvSpPr txBox="1"/>
          <p:nvPr/>
        </p:nvSpPr>
        <p:spPr>
          <a:xfrm>
            <a:off x="3410880" y="3017765"/>
            <a:ext cx="11733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OMNIPATH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PSICQUIC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APID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8D7B3E29-407F-3667-C77E-6834E6139659}"/>
              </a:ext>
            </a:extLst>
          </p:cNvPr>
          <p:cNvSpPr/>
          <p:nvPr/>
        </p:nvSpPr>
        <p:spPr>
          <a:xfrm>
            <a:off x="3226466" y="3023696"/>
            <a:ext cx="1542180" cy="965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Pijl: vijfhoek 5">
            <a:extLst>
              <a:ext uri="{FF2B5EF4-FFF2-40B4-BE49-F238E27FC236}">
                <a16:creationId xmlns:a16="http://schemas.microsoft.com/office/drawing/2014/main" id="{A4C4E48D-9580-1F63-D40C-2B52449EE5CA}"/>
              </a:ext>
            </a:extLst>
          </p:cNvPr>
          <p:cNvSpPr/>
          <p:nvPr/>
        </p:nvSpPr>
        <p:spPr>
          <a:xfrm>
            <a:off x="1545146" y="2548929"/>
            <a:ext cx="1681320" cy="400110"/>
          </a:xfrm>
          <a:prstGeom prst="homePlate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2932B1C5-9E63-A2B6-2C9F-26FEDF64B7ED}"/>
              </a:ext>
            </a:extLst>
          </p:cNvPr>
          <p:cNvSpPr txBox="1"/>
          <p:nvPr/>
        </p:nvSpPr>
        <p:spPr>
          <a:xfrm>
            <a:off x="1621234" y="2589555"/>
            <a:ext cx="1247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Db selection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5B66F4E4-2501-F123-1C73-A861C9E61350}"/>
              </a:ext>
            </a:extLst>
          </p:cNvPr>
          <p:cNvSpPr/>
          <p:nvPr/>
        </p:nvSpPr>
        <p:spPr>
          <a:xfrm>
            <a:off x="4851843" y="3023696"/>
            <a:ext cx="1465466" cy="965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Pijl: punthaak 9">
            <a:extLst>
              <a:ext uri="{FF2B5EF4-FFF2-40B4-BE49-F238E27FC236}">
                <a16:creationId xmlns:a16="http://schemas.microsoft.com/office/drawing/2014/main" id="{5F372E47-11EE-87FA-58FD-CB1BBE588E45}"/>
              </a:ext>
            </a:extLst>
          </p:cNvPr>
          <p:cNvSpPr/>
          <p:nvPr/>
        </p:nvSpPr>
        <p:spPr>
          <a:xfrm>
            <a:off x="4824228" y="2548929"/>
            <a:ext cx="1681319" cy="400110"/>
          </a:xfrm>
          <a:prstGeom prst="chevron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7B2B858A-3ADB-3873-5144-E932863766EF}"/>
              </a:ext>
            </a:extLst>
          </p:cNvPr>
          <p:cNvSpPr txBox="1"/>
          <p:nvPr/>
        </p:nvSpPr>
        <p:spPr>
          <a:xfrm>
            <a:off x="5090180" y="2589556"/>
            <a:ext cx="1149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Verification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549007BB-B2F8-25FE-3EA8-BF585A318EA4}"/>
              </a:ext>
            </a:extLst>
          </p:cNvPr>
          <p:cNvSpPr txBox="1"/>
          <p:nvPr/>
        </p:nvSpPr>
        <p:spPr>
          <a:xfrm>
            <a:off x="4902214" y="3233208"/>
            <a:ext cx="1279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Experimental 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evidence</a:t>
            </a: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F79542E7-04CD-86A8-3E8E-F7B24AF8CB0C}"/>
              </a:ext>
            </a:extLst>
          </p:cNvPr>
          <p:cNvSpPr/>
          <p:nvPr/>
        </p:nvSpPr>
        <p:spPr>
          <a:xfrm>
            <a:off x="6450359" y="3023696"/>
            <a:ext cx="1465466" cy="965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Pijl: punthaak 14">
            <a:extLst>
              <a:ext uri="{FF2B5EF4-FFF2-40B4-BE49-F238E27FC236}">
                <a16:creationId xmlns:a16="http://schemas.microsoft.com/office/drawing/2014/main" id="{FD86459A-483A-8F8B-2F5E-2FF15B835D3C}"/>
              </a:ext>
            </a:extLst>
          </p:cNvPr>
          <p:cNvSpPr/>
          <p:nvPr/>
        </p:nvSpPr>
        <p:spPr>
          <a:xfrm>
            <a:off x="6421988" y="2554467"/>
            <a:ext cx="1681319" cy="400110"/>
          </a:xfrm>
          <a:prstGeom prst="chevron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75893A5E-F90D-4FC6-DF64-F5B58C9340FE}"/>
              </a:ext>
            </a:extLst>
          </p:cNvPr>
          <p:cNvSpPr txBox="1"/>
          <p:nvPr/>
        </p:nvSpPr>
        <p:spPr>
          <a:xfrm>
            <a:off x="6622682" y="3233208"/>
            <a:ext cx="1120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Subcellular 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location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A25A9AE1-9D1D-087F-63C5-B3E2683900EA}"/>
              </a:ext>
            </a:extLst>
          </p:cNvPr>
          <p:cNvSpPr txBox="1"/>
          <p:nvPr/>
        </p:nvSpPr>
        <p:spPr>
          <a:xfrm>
            <a:off x="6809629" y="2589556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UniProt</a:t>
            </a:r>
          </a:p>
        </p:txBody>
      </p:sp>
      <p:sp>
        <p:nvSpPr>
          <p:cNvPr id="21" name="Pijl: punthaak 20">
            <a:extLst>
              <a:ext uri="{FF2B5EF4-FFF2-40B4-BE49-F238E27FC236}">
                <a16:creationId xmlns:a16="http://schemas.microsoft.com/office/drawing/2014/main" id="{55EEE148-E849-17B1-38A2-8D062F460BD0}"/>
              </a:ext>
            </a:extLst>
          </p:cNvPr>
          <p:cNvSpPr/>
          <p:nvPr/>
        </p:nvSpPr>
        <p:spPr>
          <a:xfrm>
            <a:off x="8019748" y="2555126"/>
            <a:ext cx="1681319" cy="400110"/>
          </a:xfrm>
          <a:prstGeom prst="chevron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626E292F-F1F1-02D1-6607-80EA7C037E80}"/>
              </a:ext>
            </a:extLst>
          </p:cNvPr>
          <p:cNvSpPr txBox="1"/>
          <p:nvPr/>
        </p:nvSpPr>
        <p:spPr>
          <a:xfrm>
            <a:off x="8442657" y="2589555"/>
            <a:ext cx="7617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X et al.</a:t>
            </a: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BD01A2E5-6082-69A6-E260-6D161B6ADDB5}"/>
              </a:ext>
            </a:extLst>
          </p:cNvPr>
          <p:cNvSpPr/>
          <p:nvPr/>
        </p:nvSpPr>
        <p:spPr>
          <a:xfrm>
            <a:off x="8019748" y="3023696"/>
            <a:ext cx="1465466" cy="965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7098B673-0FC2-F7D7-D51D-1D6FB8CCA246}"/>
              </a:ext>
            </a:extLst>
          </p:cNvPr>
          <p:cNvSpPr txBox="1"/>
          <p:nvPr/>
        </p:nvSpPr>
        <p:spPr>
          <a:xfrm>
            <a:off x="8137569" y="3233208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Hippocampal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expression</a:t>
            </a: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1987AE45-5309-39BB-4701-B98F81F4507A}"/>
              </a:ext>
            </a:extLst>
          </p:cNvPr>
          <p:cNvSpPr/>
          <p:nvPr/>
        </p:nvSpPr>
        <p:spPr>
          <a:xfrm>
            <a:off x="1540546" y="3029774"/>
            <a:ext cx="1542180" cy="965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6FB07696-84BF-0BC8-F590-95563850A388}"/>
              </a:ext>
            </a:extLst>
          </p:cNvPr>
          <p:cNvSpPr txBox="1"/>
          <p:nvPr/>
        </p:nvSpPr>
        <p:spPr>
          <a:xfrm>
            <a:off x="3382093" y="2589554"/>
            <a:ext cx="1406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Back-end data</a:t>
            </a: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5A9B650A-E056-F3F3-E34D-C87B114A7A62}"/>
              </a:ext>
            </a:extLst>
          </p:cNvPr>
          <p:cNvSpPr txBox="1"/>
          <p:nvPr/>
        </p:nvSpPr>
        <p:spPr>
          <a:xfrm>
            <a:off x="1470976" y="3170470"/>
            <a:ext cx="16813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Bajpai et al. 2020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own experience</a:t>
            </a:r>
          </a:p>
        </p:txBody>
      </p:sp>
    </p:spTree>
    <p:extLst>
      <p:ext uri="{BB962C8B-B14F-4D97-AF65-F5344CB8AC3E}">
        <p14:creationId xmlns:p14="http://schemas.microsoft.com/office/powerpoint/2010/main" val="179801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11B53E2A-8006-F2CB-6A5C-9C9532A08ED8}"/>
              </a:ext>
            </a:extLst>
          </p:cNvPr>
          <p:cNvSpPr txBox="1"/>
          <p:nvPr/>
        </p:nvSpPr>
        <p:spPr>
          <a:xfrm>
            <a:off x="4943403" y="1316850"/>
            <a:ext cx="3217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data bases (experimental interactions)</a:t>
            </a:r>
            <a:endParaRPr lang="nl-NL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98C716B5-641E-BEB1-0E10-97B04D6FBEB8}"/>
              </a:ext>
            </a:extLst>
          </p:cNvPr>
          <p:cNvSpPr txBox="1"/>
          <p:nvPr/>
        </p:nvSpPr>
        <p:spPr>
          <a:xfrm>
            <a:off x="4943403" y="1704418"/>
            <a:ext cx="2521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docking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AlphaFold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-Multimer)</a:t>
            </a:r>
            <a:endParaRPr lang="nl-NL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32BBCCC5-B6CE-C132-4C2F-6E41F45EE488}"/>
              </a:ext>
            </a:extLst>
          </p:cNvPr>
          <p:cNvSpPr txBox="1"/>
          <p:nvPr/>
        </p:nvSpPr>
        <p:spPr>
          <a:xfrm>
            <a:off x="3775455" y="150732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PPI</a:t>
            </a:r>
            <a:endParaRPr lang="nl-N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25BD6156-AFED-0ABF-9FE5-42083C3CE109}"/>
              </a:ext>
            </a:extLst>
          </p:cNvPr>
          <p:cNvSpPr txBox="1"/>
          <p:nvPr/>
        </p:nvSpPr>
        <p:spPr>
          <a:xfrm>
            <a:off x="3587096" y="3750422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GO terms</a:t>
            </a:r>
            <a:endParaRPr lang="nl-N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7A352AFF-8399-FEB2-062A-1CF4728706E2}"/>
              </a:ext>
            </a:extLst>
          </p:cNvPr>
          <p:cNvSpPr txBox="1"/>
          <p:nvPr/>
        </p:nvSpPr>
        <p:spPr>
          <a:xfrm>
            <a:off x="4943403" y="3781200"/>
            <a:ext cx="5955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Check GO terms (phagocytosis, synapse phagocytosis, … ) of interactors</a:t>
            </a:r>
            <a:endParaRPr lang="nl-NL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7AD4FFAC-B3BC-F011-65EB-921E9E8D7454}"/>
              </a:ext>
            </a:extLst>
          </p:cNvPr>
          <p:cNvSpPr txBox="1"/>
          <p:nvPr/>
        </p:nvSpPr>
        <p:spPr>
          <a:xfrm>
            <a:off x="2457428" y="331581"/>
            <a:ext cx="71368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Finding computational relevant VCAM1 interactors (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heatmap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nl-NL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FDDE8009-B8D8-2698-C458-F224561ECC6E}"/>
              </a:ext>
            </a:extLst>
          </p:cNvPr>
          <p:cNvSpPr txBox="1"/>
          <p:nvPr/>
        </p:nvSpPr>
        <p:spPr>
          <a:xfrm>
            <a:off x="2540181" y="2423366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Cell-type expression</a:t>
            </a:r>
            <a:endParaRPr lang="nl-N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0DE6FB12-86A8-89F4-3CFE-5F541C3C773A}"/>
              </a:ext>
            </a:extLst>
          </p:cNvPr>
          <p:cNvSpPr txBox="1"/>
          <p:nvPr/>
        </p:nvSpPr>
        <p:spPr>
          <a:xfrm>
            <a:off x="4943403" y="2490537"/>
            <a:ext cx="7003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Checking cell-type expression (microglia &amp; OPCs)  from Blanca and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Danies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single-cell</a:t>
            </a:r>
            <a:endParaRPr lang="nl-NL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C0521906-2307-8328-7157-3F35D6CA29BD}"/>
              </a:ext>
            </a:extLst>
          </p:cNvPr>
          <p:cNvSpPr txBox="1"/>
          <p:nvPr/>
        </p:nvSpPr>
        <p:spPr>
          <a:xfrm>
            <a:off x="1929207" y="2878865"/>
            <a:ext cx="310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Developmental expression</a:t>
            </a:r>
            <a:endParaRPr lang="nl-N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A7E944EB-17EA-1B7A-EA23-9A0A14D05944}"/>
              </a:ext>
            </a:extLst>
          </p:cNvPr>
          <p:cNvSpPr txBox="1"/>
          <p:nvPr/>
        </p:nvSpPr>
        <p:spPr>
          <a:xfrm>
            <a:off x="4943403" y="2940420"/>
            <a:ext cx="5827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Checking developmental expression from Blanca and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Danies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single-cell</a:t>
            </a:r>
            <a:endParaRPr lang="nl-NL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8154976C-2BB0-85F8-0D1D-6B5070B8C5EF}"/>
              </a:ext>
            </a:extLst>
          </p:cNvPr>
          <p:cNvSpPr txBox="1"/>
          <p:nvPr/>
        </p:nvSpPr>
        <p:spPr>
          <a:xfrm>
            <a:off x="3407560" y="4326922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Public data</a:t>
            </a:r>
            <a:endParaRPr lang="nl-N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87081870-9BA9-3346-D4EC-0F24CF73EF39}"/>
              </a:ext>
            </a:extLst>
          </p:cNvPr>
          <p:cNvSpPr txBox="1"/>
          <p:nvPr/>
        </p:nvSpPr>
        <p:spPr>
          <a:xfrm>
            <a:off x="4942379" y="4326922"/>
            <a:ext cx="68229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Reanalyzing public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RNAseq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data related to synapse phagocytosis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da-DK" sz="1400" b="0" i="0" dirty="0">
                <a:effectLst/>
                <a:latin typeface="Roboto" panose="02000000000000000000" pitchFamily="2" charset="0"/>
              </a:rPr>
              <a:t>danyang et al. 2022 Mg tau-GFP+ and tau GFP-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400" b="0" i="0" dirty="0" err="1">
                <a:effectLst/>
                <a:latin typeface="Roboto" panose="02000000000000000000" pitchFamily="2" charset="0"/>
              </a:rPr>
              <a:t>danyang</a:t>
            </a:r>
            <a:r>
              <a:rPr lang="en-US" sz="1400" b="0" i="0" dirty="0">
                <a:effectLst/>
                <a:latin typeface="Roboto" panose="02000000000000000000" pitchFamily="2" charset="0"/>
              </a:rPr>
              <a:t> et al. 2022 Mg high and low TRPM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de-DE" sz="1400" b="0" i="0" dirty="0" err="1">
                <a:effectLst/>
                <a:latin typeface="Roboto" panose="02000000000000000000" pitchFamily="2" charset="0"/>
              </a:rPr>
              <a:t>grubman</a:t>
            </a:r>
            <a:r>
              <a:rPr lang="de-DE" sz="1400" b="0" i="0" dirty="0">
                <a:effectLst/>
                <a:latin typeface="Roboto" panose="02000000000000000000" pitchFamily="2" charset="0"/>
              </a:rPr>
              <a:t> et al. 2021 Mg Ab </a:t>
            </a:r>
            <a:r>
              <a:rPr lang="de-DE" sz="1400" b="0" i="0" dirty="0" err="1">
                <a:effectLst/>
                <a:latin typeface="Roboto" panose="02000000000000000000" pitchFamily="2" charset="0"/>
              </a:rPr>
              <a:t>phago</a:t>
            </a:r>
            <a:endParaRPr lang="de-DE" sz="1400" b="0" i="0" dirty="0">
              <a:effectLst/>
              <a:latin typeface="Roboto" panose="02000000000000000000" pitchFamily="2" charset="0"/>
            </a:endParaRPr>
          </a:p>
          <a:p>
            <a:r>
              <a:rPr lang="en-US" sz="1400" b="0" i="0" dirty="0">
                <a:effectLst/>
                <a:latin typeface="Roboto" panose="02000000000000000000" pitchFamily="2" charset="0"/>
              </a:rPr>
              <a:t>- Masuda et al. 2019 Mg subclasses throughout development</a:t>
            </a:r>
          </a:p>
          <a:p>
            <a:r>
              <a:rPr lang="nl-NL" sz="1400" b="0" i="0" dirty="0">
                <a:effectLst/>
                <a:latin typeface="Roboto" panose="02000000000000000000" pitchFamily="2" charset="0"/>
              </a:rPr>
              <a:t>- Hammond et al. 2019 Mg over development</a:t>
            </a:r>
            <a:endParaRPr lang="en-US" sz="1400" dirty="0">
              <a:latin typeface="Roboto" panose="02000000000000000000" pitchFamily="2" charset="0"/>
            </a:endParaRPr>
          </a:p>
          <a:p>
            <a:r>
              <a:rPr lang="en-US" sz="1400" b="0" i="0" dirty="0">
                <a:effectLst/>
                <a:latin typeface="Roboto" panose="02000000000000000000" pitchFamily="2" charset="0"/>
              </a:rPr>
              <a:t>- Keren-</a:t>
            </a:r>
            <a:r>
              <a:rPr lang="en-US" sz="1400" b="0" i="0" dirty="0" err="1">
                <a:effectLst/>
                <a:latin typeface="Roboto" panose="02000000000000000000" pitchFamily="2" charset="0"/>
              </a:rPr>
              <a:t>shaul</a:t>
            </a:r>
            <a:r>
              <a:rPr lang="en-US" sz="1400" b="0" i="0" dirty="0">
                <a:effectLst/>
                <a:latin typeface="Roboto" panose="02000000000000000000" pitchFamily="2" charset="0"/>
              </a:rPr>
              <a:t> et al. 2017. DAM microglia (because the phagocytic pathway is induced in these type of microglia in AD context)</a:t>
            </a:r>
          </a:p>
          <a:p>
            <a:r>
              <a:rPr lang="it-IT" sz="1400" b="0" i="0" dirty="0">
                <a:effectLst/>
                <a:latin typeface="Roboto" panose="02000000000000000000" pitchFamily="2" charset="0"/>
              </a:rPr>
              <a:t>- Li et al. 2019. Microglia developement</a:t>
            </a:r>
            <a:endParaRPr lang="nl-NL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hoek: afgeronde hoeken 16">
            <a:extLst>
              <a:ext uri="{FF2B5EF4-FFF2-40B4-BE49-F238E27FC236}">
                <a16:creationId xmlns:a16="http://schemas.microsoft.com/office/drawing/2014/main" id="{DDF4FC3B-F9FC-D6EB-FEEA-091918D07346}"/>
              </a:ext>
            </a:extLst>
          </p:cNvPr>
          <p:cNvSpPr/>
          <p:nvPr/>
        </p:nvSpPr>
        <p:spPr>
          <a:xfrm>
            <a:off x="3587096" y="1170039"/>
            <a:ext cx="4672001" cy="1009216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hthoek: afgeronde hoeken 17">
            <a:extLst>
              <a:ext uri="{FF2B5EF4-FFF2-40B4-BE49-F238E27FC236}">
                <a16:creationId xmlns:a16="http://schemas.microsoft.com/office/drawing/2014/main" id="{28A88665-BF3E-E3F3-AB00-50BE9B4D8B4B}"/>
              </a:ext>
            </a:extLst>
          </p:cNvPr>
          <p:cNvSpPr/>
          <p:nvPr/>
        </p:nvSpPr>
        <p:spPr>
          <a:xfrm>
            <a:off x="1929207" y="2374257"/>
            <a:ext cx="9938328" cy="1009216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hthoek: afgeronde hoeken 18">
            <a:extLst>
              <a:ext uri="{FF2B5EF4-FFF2-40B4-BE49-F238E27FC236}">
                <a16:creationId xmlns:a16="http://schemas.microsoft.com/office/drawing/2014/main" id="{7995BDD8-DC06-089B-52B7-D5879A535AFE}"/>
              </a:ext>
            </a:extLst>
          </p:cNvPr>
          <p:cNvSpPr/>
          <p:nvPr/>
        </p:nvSpPr>
        <p:spPr>
          <a:xfrm>
            <a:off x="1929207" y="3615145"/>
            <a:ext cx="9938328" cy="2743101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F2486826-1AB8-03B1-3215-93366066623A}"/>
              </a:ext>
            </a:extLst>
          </p:cNvPr>
          <p:cNvSpPr txBox="1"/>
          <p:nvPr/>
        </p:nvSpPr>
        <p:spPr>
          <a:xfrm>
            <a:off x="98322" y="1306345"/>
            <a:ext cx="1568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Interactors</a:t>
            </a:r>
            <a:endParaRPr lang="nl-NL" sz="2400" b="1" dirty="0">
              <a:solidFill>
                <a:schemeClr val="accent1"/>
              </a:solidFill>
            </a:endParaRP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0D51B59B-4508-8435-2349-73BEB72B7A20}"/>
              </a:ext>
            </a:extLst>
          </p:cNvPr>
          <p:cNvSpPr txBox="1"/>
          <p:nvPr/>
        </p:nvSpPr>
        <p:spPr>
          <a:xfrm>
            <a:off x="55021" y="2417200"/>
            <a:ext cx="1615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Descriptive</a:t>
            </a:r>
            <a:endParaRPr lang="nl-NL" sz="2400" b="1" dirty="0">
              <a:solidFill>
                <a:schemeClr val="accent6"/>
              </a:solidFill>
            </a:endParaRP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F7E0AD72-7A29-9B39-A72D-95D2FCDCDDA1}"/>
              </a:ext>
            </a:extLst>
          </p:cNvPr>
          <p:cNvSpPr txBox="1"/>
          <p:nvPr/>
        </p:nvSpPr>
        <p:spPr>
          <a:xfrm>
            <a:off x="106097" y="459146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Functional</a:t>
            </a:r>
            <a:endParaRPr lang="nl-NL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61788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193</Words>
  <Application>Microsoft Office PowerPoint</Application>
  <PresentationFormat>Breedbeeld</PresentationFormat>
  <Paragraphs>41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Roboto</vt:lpstr>
      <vt:lpstr>Kantoorthema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Cydric Geyskens</dc:creator>
  <cp:lastModifiedBy>Cydric Geyskens</cp:lastModifiedBy>
  <cp:revision>30</cp:revision>
  <dcterms:created xsi:type="dcterms:W3CDTF">2023-09-20T10:49:24Z</dcterms:created>
  <dcterms:modified xsi:type="dcterms:W3CDTF">2023-10-04T18:34:04Z</dcterms:modified>
</cp:coreProperties>
</file>